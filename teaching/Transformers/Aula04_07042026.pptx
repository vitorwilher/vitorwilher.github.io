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6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87"/>
    <p:restoredTop sz="94634"/>
  </p:normalViewPr>
  <p:slideViewPr>
    <p:cSldViewPr snapToGrid="0">
      <p:cViewPr varScale="1">
        <p:scale>
          <a:sx n="120" d="100"/>
          <a:sy n="120" d="100"/>
        </p:scale>
        <p:origin x="20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09DA14-B8B5-4D25-8E31-561E7DF419A9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F422A0F-674C-4EFC-9F4E-3EAFA40D663D}">
      <dgm:prSet/>
      <dgm:spPr/>
      <dgm:t>
        <a:bodyPr/>
        <a:lstStyle/>
        <a:p>
          <a:r>
            <a:rPr lang="pt-BR" dirty="0"/>
            <a:t>Detalhar a arquitetura </a:t>
          </a:r>
          <a:r>
            <a:rPr lang="pt-BR" i="1" dirty="0"/>
            <a:t>Transformer</a:t>
          </a:r>
          <a:r>
            <a:rPr lang="pt-BR" dirty="0"/>
            <a:t> e os </a:t>
          </a:r>
          <a:r>
            <a:rPr lang="pt-BR" i="1" dirty="0"/>
            <a:t>LLMs</a:t>
          </a:r>
          <a:r>
            <a:rPr lang="pt-BR" dirty="0"/>
            <a:t> — a tecnologia específica que impulsionou a revolução da </a:t>
          </a:r>
          <a:r>
            <a:rPr lang="pt-BR" b="1" dirty="0"/>
            <a:t>IA generativa</a:t>
          </a:r>
          <a:r>
            <a:rPr lang="pt-BR" dirty="0"/>
            <a:t> em linguagem. </a:t>
          </a:r>
          <a:endParaRPr lang="en-US" dirty="0"/>
        </a:p>
      </dgm:t>
    </dgm:pt>
    <dgm:pt modelId="{8E93E294-7E31-4596-A1A5-837C4FB949BF}" type="parTrans" cxnId="{2B4AC95A-98DB-4CAB-916D-85D969764C8A}">
      <dgm:prSet/>
      <dgm:spPr/>
      <dgm:t>
        <a:bodyPr/>
        <a:lstStyle/>
        <a:p>
          <a:endParaRPr lang="en-US"/>
        </a:p>
      </dgm:t>
    </dgm:pt>
    <dgm:pt modelId="{90A102C9-B3AA-49CF-99B2-D0D03502D22D}" type="sibTrans" cxnId="{2B4AC95A-98DB-4CAB-916D-85D969764C8A}">
      <dgm:prSet/>
      <dgm:spPr/>
      <dgm:t>
        <a:bodyPr/>
        <a:lstStyle/>
        <a:p>
          <a:endParaRPr lang="en-US"/>
        </a:p>
      </dgm:t>
    </dgm:pt>
    <dgm:pt modelId="{83CAB272-A112-445C-8169-F4AB715BFAC6}">
      <dgm:prSet/>
      <dgm:spPr/>
      <dgm:t>
        <a:bodyPr/>
        <a:lstStyle/>
        <a:p>
          <a:r>
            <a:rPr lang="pt-BR" i="1" dirty="0"/>
            <a:t>Compreender como esses modelos funcionam é essencial para usá-los estrategicamente.</a:t>
          </a:r>
          <a:endParaRPr lang="en-US" dirty="0"/>
        </a:p>
      </dgm:t>
    </dgm:pt>
    <dgm:pt modelId="{09644CFC-3A7F-48FB-B458-28A643D3427E}" type="parTrans" cxnId="{5AD48B22-D462-4C68-837B-A369A815B2AA}">
      <dgm:prSet/>
      <dgm:spPr/>
      <dgm:t>
        <a:bodyPr/>
        <a:lstStyle/>
        <a:p>
          <a:endParaRPr lang="en-US"/>
        </a:p>
      </dgm:t>
    </dgm:pt>
    <dgm:pt modelId="{BEF874AA-8415-4BBF-9CC6-1318279C9DC1}" type="sibTrans" cxnId="{5AD48B22-D462-4C68-837B-A369A815B2AA}">
      <dgm:prSet/>
      <dgm:spPr/>
      <dgm:t>
        <a:bodyPr/>
        <a:lstStyle/>
        <a:p>
          <a:endParaRPr lang="en-US"/>
        </a:p>
      </dgm:t>
    </dgm:pt>
    <dgm:pt modelId="{A73CF2EA-659E-F940-A030-1081F7905B18}" type="pres">
      <dgm:prSet presAssocID="{1A09DA14-B8B5-4D25-8E31-561E7DF419A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A80C5A-7E1A-EF44-AC5A-B52A167F8334}" type="pres">
      <dgm:prSet presAssocID="{6F422A0F-674C-4EFC-9F4E-3EAFA40D663D}" presName="hierRoot1" presStyleCnt="0"/>
      <dgm:spPr/>
    </dgm:pt>
    <dgm:pt modelId="{9FCC538E-12FC-1544-A3BF-FA3857F6F743}" type="pres">
      <dgm:prSet presAssocID="{6F422A0F-674C-4EFC-9F4E-3EAFA40D663D}" presName="composite" presStyleCnt="0"/>
      <dgm:spPr/>
    </dgm:pt>
    <dgm:pt modelId="{6282D4D8-A47B-5A4A-ADF4-767FE3853C5F}" type="pres">
      <dgm:prSet presAssocID="{6F422A0F-674C-4EFC-9F4E-3EAFA40D663D}" presName="background" presStyleLbl="node0" presStyleIdx="0" presStyleCnt="2"/>
      <dgm:spPr/>
    </dgm:pt>
    <dgm:pt modelId="{0B2A5440-DD07-0A4B-8D63-2AD0E8C4B613}" type="pres">
      <dgm:prSet presAssocID="{6F422A0F-674C-4EFC-9F4E-3EAFA40D663D}" presName="text" presStyleLbl="fgAcc0" presStyleIdx="0" presStyleCnt="2">
        <dgm:presLayoutVars>
          <dgm:chPref val="3"/>
        </dgm:presLayoutVars>
      </dgm:prSet>
      <dgm:spPr/>
    </dgm:pt>
    <dgm:pt modelId="{54313D61-D2F5-5E4B-BADF-3A68A2C5AE6D}" type="pres">
      <dgm:prSet presAssocID="{6F422A0F-674C-4EFC-9F4E-3EAFA40D663D}" presName="hierChild2" presStyleCnt="0"/>
      <dgm:spPr/>
    </dgm:pt>
    <dgm:pt modelId="{BAC29171-3ADD-F745-B4C2-1CDC82A90AE3}" type="pres">
      <dgm:prSet presAssocID="{83CAB272-A112-445C-8169-F4AB715BFAC6}" presName="hierRoot1" presStyleCnt="0"/>
      <dgm:spPr/>
    </dgm:pt>
    <dgm:pt modelId="{6DBC51D4-F426-8D46-BDE8-7B2563CF9B78}" type="pres">
      <dgm:prSet presAssocID="{83CAB272-A112-445C-8169-F4AB715BFAC6}" presName="composite" presStyleCnt="0"/>
      <dgm:spPr/>
    </dgm:pt>
    <dgm:pt modelId="{33FE4CCF-4553-1143-802A-DC1F8A5B6ACE}" type="pres">
      <dgm:prSet presAssocID="{83CAB272-A112-445C-8169-F4AB715BFAC6}" presName="background" presStyleLbl="node0" presStyleIdx="1" presStyleCnt="2"/>
      <dgm:spPr/>
    </dgm:pt>
    <dgm:pt modelId="{2BCB6344-2AD7-3845-906F-5631E447BBF7}" type="pres">
      <dgm:prSet presAssocID="{83CAB272-A112-445C-8169-F4AB715BFAC6}" presName="text" presStyleLbl="fgAcc0" presStyleIdx="1" presStyleCnt="2">
        <dgm:presLayoutVars>
          <dgm:chPref val="3"/>
        </dgm:presLayoutVars>
      </dgm:prSet>
      <dgm:spPr/>
    </dgm:pt>
    <dgm:pt modelId="{C9063952-117D-574F-8BA5-09C5F69CA706}" type="pres">
      <dgm:prSet presAssocID="{83CAB272-A112-445C-8169-F4AB715BFAC6}" presName="hierChild2" presStyleCnt="0"/>
      <dgm:spPr/>
    </dgm:pt>
  </dgm:ptLst>
  <dgm:cxnLst>
    <dgm:cxn modelId="{5AD48B22-D462-4C68-837B-A369A815B2AA}" srcId="{1A09DA14-B8B5-4D25-8E31-561E7DF419A9}" destId="{83CAB272-A112-445C-8169-F4AB715BFAC6}" srcOrd="1" destOrd="0" parTransId="{09644CFC-3A7F-48FB-B458-28A643D3427E}" sibTransId="{BEF874AA-8415-4BBF-9CC6-1318279C9DC1}"/>
    <dgm:cxn modelId="{2B4AC95A-98DB-4CAB-916D-85D969764C8A}" srcId="{1A09DA14-B8B5-4D25-8E31-561E7DF419A9}" destId="{6F422A0F-674C-4EFC-9F4E-3EAFA40D663D}" srcOrd="0" destOrd="0" parTransId="{8E93E294-7E31-4596-A1A5-837C4FB949BF}" sibTransId="{90A102C9-B3AA-49CF-99B2-D0D03502D22D}"/>
    <dgm:cxn modelId="{F97297C7-9F3F-124F-84BE-FF00E6F5EDD9}" type="presOf" srcId="{83CAB272-A112-445C-8169-F4AB715BFAC6}" destId="{2BCB6344-2AD7-3845-906F-5631E447BBF7}" srcOrd="0" destOrd="0" presId="urn:microsoft.com/office/officeart/2005/8/layout/hierarchy1"/>
    <dgm:cxn modelId="{4AB5CCDA-692B-2640-A73C-891F1E6256A8}" type="presOf" srcId="{1A09DA14-B8B5-4D25-8E31-561E7DF419A9}" destId="{A73CF2EA-659E-F940-A030-1081F7905B18}" srcOrd="0" destOrd="0" presId="urn:microsoft.com/office/officeart/2005/8/layout/hierarchy1"/>
    <dgm:cxn modelId="{3B7EC8FA-02B2-9B40-940A-B6E5F7B75B82}" type="presOf" srcId="{6F422A0F-674C-4EFC-9F4E-3EAFA40D663D}" destId="{0B2A5440-DD07-0A4B-8D63-2AD0E8C4B613}" srcOrd="0" destOrd="0" presId="urn:microsoft.com/office/officeart/2005/8/layout/hierarchy1"/>
    <dgm:cxn modelId="{E14BA01A-C74F-9D4B-BE2D-2C80B1C1B250}" type="presParOf" srcId="{A73CF2EA-659E-F940-A030-1081F7905B18}" destId="{7EA80C5A-7E1A-EF44-AC5A-B52A167F8334}" srcOrd="0" destOrd="0" presId="urn:microsoft.com/office/officeart/2005/8/layout/hierarchy1"/>
    <dgm:cxn modelId="{A2482145-F4AB-0547-8874-D24C0CD7A62F}" type="presParOf" srcId="{7EA80C5A-7E1A-EF44-AC5A-B52A167F8334}" destId="{9FCC538E-12FC-1544-A3BF-FA3857F6F743}" srcOrd="0" destOrd="0" presId="urn:microsoft.com/office/officeart/2005/8/layout/hierarchy1"/>
    <dgm:cxn modelId="{5F325FC7-DCA3-5748-877F-F6CE34E23D3A}" type="presParOf" srcId="{9FCC538E-12FC-1544-A3BF-FA3857F6F743}" destId="{6282D4D8-A47B-5A4A-ADF4-767FE3853C5F}" srcOrd="0" destOrd="0" presId="urn:microsoft.com/office/officeart/2005/8/layout/hierarchy1"/>
    <dgm:cxn modelId="{8809148C-AE14-D548-B79F-042B92170314}" type="presParOf" srcId="{9FCC538E-12FC-1544-A3BF-FA3857F6F743}" destId="{0B2A5440-DD07-0A4B-8D63-2AD0E8C4B613}" srcOrd="1" destOrd="0" presId="urn:microsoft.com/office/officeart/2005/8/layout/hierarchy1"/>
    <dgm:cxn modelId="{1D5733A8-A08D-7E41-BBA1-4881DD599C17}" type="presParOf" srcId="{7EA80C5A-7E1A-EF44-AC5A-B52A167F8334}" destId="{54313D61-D2F5-5E4B-BADF-3A68A2C5AE6D}" srcOrd="1" destOrd="0" presId="urn:microsoft.com/office/officeart/2005/8/layout/hierarchy1"/>
    <dgm:cxn modelId="{9CC81FB9-1EB4-9A47-9262-92281863DE7D}" type="presParOf" srcId="{A73CF2EA-659E-F940-A030-1081F7905B18}" destId="{BAC29171-3ADD-F745-B4C2-1CDC82A90AE3}" srcOrd="1" destOrd="0" presId="urn:microsoft.com/office/officeart/2005/8/layout/hierarchy1"/>
    <dgm:cxn modelId="{490071BA-A22B-3947-B893-421C2FA45ACD}" type="presParOf" srcId="{BAC29171-3ADD-F745-B4C2-1CDC82A90AE3}" destId="{6DBC51D4-F426-8D46-BDE8-7B2563CF9B78}" srcOrd="0" destOrd="0" presId="urn:microsoft.com/office/officeart/2005/8/layout/hierarchy1"/>
    <dgm:cxn modelId="{774C9914-155A-9E4E-826D-C6F418F30697}" type="presParOf" srcId="{6DBC51D4-F426-8D46-BDE8-7B2563CF9B78}" destId="{33FE4CCF-4553-1143-802A-DC1F8A5B6ACE}" srcOrd="0" destOrd="0" presId="urn:microsoft.com/office/officeart/2005/8/layout/hierarchy1"/>
    <dgm:cxn modelId="{CAC15DB9-5502-714C-92EB-1DB3AFF45044}" type="presParOf" srcId="{6DBC51D4-F426-8D46-BDE8-7B2563CF9B78}" destId="{2BCB6344-2AD7-3845-906F-5631E447BBF7}" srcOrd="1" destOrd="0" presId="urn:microsoft.com/office/officeart/2005/8/layout/hierarchy1"/>
    <dgm:cxn modelId="{809AE12A-EDC4-1745-8ED3-48ED3C0817DD}" type="presParOf" srcId="{BAC29171-3ADD-F745-B4C2-1CDC82A90AE3}" destId="{C9063952-117D-574F-8BA5-09C5F69CA70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B8E8BF-7BCE-4F29-A091-6115B644471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7DECF74-DE78-4547-97B0-00490D01C848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pt-BR" dirty="0"/>
            <a:t>A arquitetura Transformer: atenção, tokens e embeddings (sem matemática);</a:t>
          </a:r>
          <a:endParaRPr lang="en-US" dirty="0"/>
        </a:p>
      </dgm:t>
    </dgm:pt>
    <dgm:pt modelId="{7CE5872F-AF99-4AAF-8D56-341FD239CA9C}" type="parTrans" cxnId="{B86FC26E-8029-4271-A623-4F0178B857DC}">
      <dgm:prSet/>
      <dgm:spPr/>
      <dgm:t>
        <a:bodyPr/>
        <a:lstStyle/>
        <a:p>
          <a:endParaRPr lang="en-US"/>
        </a:p>
      </dgm:t>
    </dgm:pt>
    <dgm:pt modelId="{F0D89DFC-453D-494A-8E4D-AE273E67774D}" type="sibTrans" cxnId="{B86FC26E-8029-4271-A623-4F0178B857DC}">
      <dgm:prSet/>
      <dgm:spPr/>
      <dgm:t>
        <a:bodyPr/>
        <a:lstStyle/>
        <a:p>
          <a:endParaRPr lang="en-US" dirty="0"/>
        </a:p>
      </dgm:t>
    </dgm:pt>
    <dgm:pt modelId="{531AE1A7-421E-4270-B0A5-A74D32784AC2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pt-BR" dirty="0"/>
            <a:t>Como LLMs são treinados: dados, RLHF e alinhamento com intenção humana </a:t>
          </a:r>
          <a:endParaRPr lang="en-US" dirty="0"/>
        </a:p>
      </dgm:t>
    </dgm:pt>
    <dgm:pt modelId="{A8B4636D-46E1-4BAB-86AB-E2D1D0822A41}" type="parTrans" cxnId="{E811B065-F831-46A6-B86B-BF125402789B}">
      <dgm:prSet/>
      <dgm:spPr/>
      <dgm:t>
        <a:bodyPr/>
        <a:lstStyle/>
        <a:p>
          <a:endParaRPr lang="en-US"/>
        </a:p>
      </dgm:t>
    </dgm:pt>
    <dgm:pt modelId="{3F3EB0F2-5713-4803-A9A8-FD72DA11B221}" type="sibTrans" cxnId="{E811B065-F831-46A6-B86B-BF125402789B}">
      <dgm:prSet/>
      <dgm:spPr/>
      <dgm:t>
        <a:bodyPr/>
        <a:lstStyle/>
        <a:p>
          <a:endParaRPr lang="en-US" dirty="0"/>
        </a:p>
      </dgm:t>
    </dgm:pt>
    <dgm:pt modelId="{FF28D71F-E9E1-4EAB-AD1D-4F2E3F8F9FB7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pt-BR" dirty="0"/>
            <a:t>Capacidades emergentes: raciocínio, geração de código e multimodalidade;</a:t>
          </a:r>
          <a:endParaRPr lang="en-US" dirty="0"/>
        </a:p>
      </dgm:t>
    </dgm:pt>
    <dgm:pt modelId="{34645C7E-722A-4648-B39E-9EEF8B95B05D}" type="parTrans" cxnId="{B4FE4FE8-7159-4203-A534-FF9C3FBB4138}">
      <dgm:prSet/>
      <dgm:spPr/>
      <dgm:t>
        <a:bodyPr/>
        <a:lstStyle/>
        <a:p>
          <a:endParaRPr lang="en-US"/>
        </a:p>
      </dgm:t>
    </dgm:pt>
    <dgm:pt modelId="{3DD570B7-D00F-4DD0-BEEC-1F1D71AA3540}" type="sibTrans" cxnId="{B4FE4FE8-7159-4203-A534-FF9C3FBB4138}">
      <dgm:prSet/>
      <dgm:spPr/>
      <dgm:t>
        <a:bodyPr/>
        <a:lstStyle/>
        <a:p>
          <a:endParaRPr lang="en-US" dirty="0"/>
        </a:p>
      </dgm:t>
    </dgm:pt>
    <dgm:pt modelId="{AD10B42A-D641-4E3E-B5D6-A33E1EB6F4C5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pt-BR" dirty="0"/>
            <a:t>Contexto e memória: limitações de janela de contexto e estratégias de contorno;</a:t>
          </a:r>
          <a:endParaRPr lang="en-US" dirty="0"/>
        </a:p>
      </dgm:t>
    </dgm:pt>
    <dgm:pt modelId="{087F7D52-102E-4BC9-8C3B-FCA5733F5710}" type="parTrans" cxnId="{BD11DA04-595F-40CC-BD56-059FF1F4F941}">
      <dgm:prSet/>
      <dgm:spPr/>
      <dgm:t>
        <a:bodyPr/>
        <a:lstStyle/>
        <a:p>
          <a:endParaRPr lang="en-US"/>
        </a:p>
      </dgm:t>
    </dgm:pt>
    <dgm:pt modelId="{9849F652-20BE-45F3-9EE2-1FB314779336}" type="sibTrans" cxnId="{BD11DA04-595F-40CC-BD56-059FF1F4F941}">
      <dgm:prSet/>
      <dgm:spPr/>
      <dgm:t>
        <a:bodyPr/>
        <a:lstStyle/>
        <a:p>
          <a:endParaRPr lang="en-US" dirty="0"/>
        </a:p>
      </dgm:t>
    </dgm:pt>
    <dgm:pt modelId="{1353DD71-BF28-4971-B111-F2AA8C8D5D00}">
      <dgm:prSet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dirty="0"/>
            <a:t>Principais LLMs do mercado: GPT, Claude, Gemini, Llama — diferenças e posicionamento.</a:t>
          </a:r>
          <a:endParaRPr lang="en-US" dirty="0"/>
        </a:p>
      </dgm:t>
    </dgm:pt>
    <dgm:pt modelId="{56D769CD-2CC1-4BFE-AD82-AD2D87261EAF}" type="parTrans" cxnId="{7E6776B2-A752-4F22-A014-474443F006F7}">
      <dgm:prSet/>
      <dgm:spPr/>
      <dgm:t>
        <a:bodyPr/>
        <a:lstStyle/>
        <a:p>
          <a:endParaRPr lang="en-US"/>
        </a:p>
      </dgm:t>
    </dgm:pt>
    <dgm:pt modelId="{33E5A2C2-7A03-4813-BC6B-6162CB438DF5}" type="sibTrans" cxnId="{7E6776B2-A752-4F22-A014-474443F006F7}">
      <dgm:prSet/>
      <dgm:spPr/>
      <dgm:t>
        <a:bodyPr/>
        <a:lstStyle/>
        <a:p>
          <a:endParaRPr lang="en-US"/>
        </a:p>
      </dgm:t>
    </dgm:pt>
    <dgm:pt modelId="{D6F434E3-F383-4185-A391-B6B2DAA5E3FA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pt-BR" dirty="0"/>
            <a:t>Panorama Geral da IA: cronologia e oportunidades;</a:t>
          </a:r>
          <a:endParaRPr lang="en-US" dirty="0"/>
        </a:p>
      </dgm:t>
    </dgm:pt>
    <dgm:pt modelId="{65499A69-AF54-492E-83B3-D0862365CBC2}" type="sibTrans" cxnId="{3576EC09-2FF2-4760-AEF4-AC61799A3830}">
      <dgm:prSet/>
      <dgm:spPr/>
      <dgm:t>
        <a:bodyPr/>
        <a:lstStyle/>
        <a:p>
          <a:endParaRPr lang="en-US" dirty="0"/>
        </a:p>
      </dgm:t>
    </dgm:pt>
    <dgm:pt modelId="{8489D082-BAD0-40B5-B8D4-1D78DDA8F36E}" type="parTrans" cxnId="{3576EC09-2FF2-4760-AEF4-AC61799A3830}">
      <dgm:prSet/>
      <dgm:spPr/>
      <dgm:t>
        <a:bodyPr/>
        <a:lstStyle/>
        <a:p>
          <a:endParaRPr lang="en-US"/>
        </a:p>
      </dgm:t>
    </dgm:pt>
    <dgm:pt modelId="{45ED9AD8-FB4B-714A-9377-EC5A5CD9907A}" type="pres">
      <dgm:prSet presAssocID="{1AB8E8BF-7BCE-4F29-A091-6115B644471B}" presName="Name0" presStyleCnt="0">
        <dgm:presLayoutVars>
          <dgm:dir/>
          <dgm:resizeHandles val="exact"/>
        </dgm:presLayoutVars>
      </dgm:prSet>
      <dgm:spPr/>
    </dgm:pt>
    <dgm:pt modelId="{ABE33520-FAC6-624A-8EFD-762B97D1F16D}" type="pres">
      <dgm:prSet presAssocID="{D6F434E3-F383-4185-A391-B6B2DAA5E3FA}" presName="node" presStyleLbl="node1" presStyleIdx="0" presStyleCnt="6">
        <dgm:presLayoutVars>
          <dgm:bulletEnabled val="1"/>
        </dgm:presLayoutVars>
      </dgm:prSet>
      <dgm:spPr/>
    </dgm:pt>
    <dgm:pt modelId="{1894825B-2A0B-9747-BFE7-2C65B1FCB746}" type="pres">
      <dgm:prSet presAssocID="{65499A69-AF54-492E-83B3-D0862365CBC2}" presName="sibTrans" presStyleLbl="sibTrans1D1" presStyleIdx="0" presStyleCnt="5"/>
      <dgm:spPr/>
    </dgm:pt>
    <dgm:pt modelId="{0FBAD16B-144A-2241-8747-723D772A0D5B}" type="pres">
      <dgm:prSet presAssocID="{65499A69-AF54-492E-83B3-D0862365CBC2}" presName="connectorText" presStyleLbl="sibTrans1D1" presStyleIdx="0" presStyleCnt="5"/>
      <dgm:spPr/>
    </dgm:pt>
    <dgm:pt modelId="{F67AFCCA-7DE9-1149-97A6-0DC731259B28}" type="pres">
      <dgm:prSet presAssocID="{47DECF74-DE78-4547-97B0-00490D01C848}" presName="node" presStyleLbl="node1" presStyleIdx="1" presStyleCnt="6">
        <dgm:presLayoutVars>
          <dgm:bulletEnabled val="1"/>
        </dgm:presLayoutVars>
      </dgm:prSet>
      <dgm:spPr/>
    </dgm:pt>
    <dgm:pt modelId="{FE56766E-540A-4D41-8E5C-6DAB1B1736B3}" type="pres">
      <dgm:prSet presAssocID="{F0D89DFC-453D-494A-8E4D-AE273E67774D}" presName="sibTrans" presStyleLbl="sibTrans1D1" presStyleIdx="1" presStyleCnt="5"/>
      <dgm:spPr/>
    </dgm:pt>
    <dgm:pt modelId="{847DB5AA-BC2C-5D47-B4A4-D70FE7C31D4A}" type="pres">
      <dgm:prSet presAssocID="{F0D89DFC-453D-494A-8E4D-AE273E67774D}" presName="connectorText" presStyleLbl="sibTrans1D1" presStyleIdx="1" presStyleCnt="5"/>
      <dgm:spPr/>
    </dgm:pt>
    <dgm:pt modelId="{316558A3-E6D8-4945-B224-3186409311BA}" type="pres">
      <dgm:prSet presAssocID="{531AE1A7-421E-4270-B0A5-A74D32784AC2}" presName="node" presStyleLbl="node1" presStyleIdx="2" presStyleCnt="6">
        <dgm:presLayoutVars>
          <dgm:bulletEnabled val="1"/>
        </dgm:presLayoutVars>
      </dgm:prSet>
      <dgm:spPr/>
    </dgm:pt>
    <dgm:pt modelId="{DEBAEBA5-938F-D34E-BECA-99CC9336D4EF}" type="pres">
      <dgm:prSet presAssocID="{3F3EB0F2-5713-4803-A9A8-FD72DA11B221}" presName="sibTrans" presStyleLbl="sibTrans1D1" presStyleIdx="2" presStyleCnt="5"/>
      <dgm:spPr/>
    </dgm:pt>
    <dgm:pt modelId="{7FEE14F7-7878-B446-A1DE-83365BE77967}" type="pres">
      <dgm:prSet presAssocID="{3F3EB0F2-5713-4803-A9A8-FD72DA11B221}" presName="connectorText" presStyleLbl="sibTrans1D1" presStyleIdx="2" presStyleCnt="5"/>
      <dgm:spPr/>
    </dgm:pt>
    <dgm:pt modelId="{9A80917B-3BCD-6B43-99A7-F8A0D3859D21}" type="pres">
      <dgm:prSet presAssocID="{FF28D71F-E9E1-4EAB-AD1D-4F2E3F8F9FB7}" presName="node" presStyleLbl="node1" presStyleIdx="3" presStyleCnt="6">
        <dgm:presLayoutVars>
          <dgm:bulletEnabled val="1"/>
        </dgm:presLayoutVars>
      </dgm:prSet>
      <dgm:spPr/>
    </dgm:pt>
    <dgm:pt modelId="{40A79C42-92A4-8344-A47B-A04FD4491D3C}" type="pres">
      <dgm:prSet presAssocID="{3DD570B7-D00F-4DD0-BEEC-1F1D71AA3540}" presName="sibTrans" presStyleLbl="sibTrans1D1" presStyleIdx="3" presStyleCnt="5"/>
      <dgm:spPr/>
    </dgm:pt>
    <dgm:pt modelId="{18A204A1-80F5-EA4B-9721-B8BDF45CCAFB}" type="pres">
      <dgm:prSet presAssocID="{3DD570B7-D00F-4DD0-BEEC-1F1D71AA3540}" presName="connectorText" presStyleLbl="sibTrans1D1" presStyleIdx="3" presStyleCnt="5"/>
      <dgm:spPr/>
    </dgm:pt>
    <dgm:pt modelId="{FCC39425-6452-0242-92A6-FA1C8A57E0C5}" type="pres">
      <dgm:prSet presAssocID="{AD10B42A-D641-4E3E-B5D6-A33E1EB6F4C5}" presName="node" presStyleLbl="node1" presStyleIdx="4" presStyleCnt="6">
        <dgm:presLayoutVars>
          <dgm:bulletEnabled val="1"/>
        </dgm:presLayoutVars>
      </dgm:prSet>
      <dgm:spPr/>
    </dgm:pt>
    <dgm:pt modelId="{CEAFC0A6-A1FB-584C-B5AF-911652788DA3}" type="pres">
      <dgm:prSet presAssocID="{9849F652-20BE-45F3-9EE2-1FB314779336}" presName="sibTrans" presStyleLbl="sibTrans1D1" presStyleIdx="4" presStyleCnt="5"/>
      <dgm:spPr/>
    </dgm:pt>
    <dgm:pt modelId="{D83B74C2-AABA-1F48-8926-2BF27961FC0B}" type="pres">
      <dgm:prSet presAssocID="{9849F652-20BE-45F3-9EE2-1FB314779336}" presName="connectorText" presStyleLbl="sibTrans1D1" presStyleIdx="4" presStyleCnt="5"/>
      <dgm:spPr/>
    </dgm:pt>
    <dgm:pt modelId="{BB29C139-C690-9843-8556-11F8ED642E05}" type="pres">
      <dgm:prSet presAssocID="{1353DD71-BF28-4971-B111-F2AA8C8D5D00}" presName="node" presStyleLbl="node1" presStyleIdx="5" presStyleCnt="6">
        <dgm:presLayoutVars>
          <dgm:bulletEnabled val="1"/>
        </dgm:presLayoutVars>
      </dgm:prSet>
      <dgm:spPr/>
    </dgm:pt>
  </dgm:ptLst>
  <dgm:cxnLst>
    <dgm:cxn modelId="{BD11DA04-595F-40CC-BD56-059FF1F4F941}" srcId="{1AB8E8BF-7BCE-4F29-A091-6115B644471B}" destId="{AD10B42A-D641-4E3E-B5D6-A33E1EB6F4C5}" srcOrd="4" destOrd="0" parTransId="{087F7D52-102E-4BC9-8C3B-FCA5733F5710}" sibTransId="{9849F652-20BE-45F3-9EE2-1FB314779336}"/>
    <dgm:cxn modelId="{3576EC09-2FF2-4760-AEF4-AC61799A3830}" srcId="{1AB8E8BF-7BCE-4F29-A091-6115B644471B}" destId="{D6F434E3-F383-4185-A391-B6B2DAA5E3FA}" srcOrd="0" destOrd="0" parTransId="{8489D082-BAD0-40B5-B8D4-1D78DDA8F36E}" sibTransId="{65499A69-AF54-492E-83B3-D0862365CBC2}"/>
    <dgm:cxn modelId="{7B338A10-DD93-6C43-B7D8-403190A2107D}" type="presOf" srcId="{FF28D71F-E9E1-4EAB-AD1D-4F2E3F8F9FB7}" destId="{9A80917B-3BCD-6B43-99A7-F8A0D3859D21}" srcOrd="0" destOrd="0" presId="urn:microsoft.com/office/officeart/2016/7/layout/RepeatingBendingProcessNew"/>
    <dgm:cxn modelId="{55964F17-AE7F-954D-ABFF-2EA3506E0B09}" type="presOf" srcId="{65499A69-AF54-492E-83B3-D0862365CBC2}" destId="{0FBAD16B-144A-2241-8747-723D772A0D5B}" srcOrd="1" destOrd="0" presId="urn:microsoft.com/office/officeart/2016/7/layout/RepeatingBendingProcessNew"/>
    <dgm:cxn modelId="{7D1B8C20-29EE-DF4B-AE7C-9571B23CEDA1}" type="presOf" srcId="{47DECF74-DE78-4547-97B0-00490D01C848}" destId="{F67AFCCA-7DE9-1149-97A6-0DC731259B28}" srcOrd="0" destOrd="0" presId="urn:microsoft.com/office/officeart/2016/7/layout/RepeatingBendingProcessNew"/>
    <dgm:cxn modelId="{46DB8D2D-1053-B24F-AEB9-29851AB572CF}" type="presOf" srcId="{9849F652-20BE-45F3-9EE2-1FB314779336}" destId="{D83B74C2-AABA-1F48-8926-2BF27961FC0B}" srcOrd="1" destOrd="0" presId="urn:microsoft.com/office/officeart/2016/7/layout/RepeatingBendingProcessNew"/>
    <dgm:cxn modelId="{A421122F-FC8A-7C43-8FB2-AFA5F8BA518E}" type="presOf" srcId="{3DD570B7-D00F-4DD0-BEEC-1F1D71AA3540}" destId="{18A204A1-80F5-EA4B-9721-B8BDF45CCAFB}" srcOrd="1" destOrd="0" presId="urn:microsoft.com/office/officeart/2016/7/layout/RepeatingBendingProcessNew"/>
    <dgm:cxn modelId="{D0FB1D35-CC6B-FF4D-BB1F-59657EFA8A7C}" type="presOf" srcId="{AD10B42A-D641-4E3E-B5D6-A33E1EB6F4C5}" destId="{FCC39425-6452-0242-92A6-FA1C8A57E0C5}" srcOrd="0" destOrd="0" presId="urn:microsoft.com/office/officeart/2016/7/layout/RepeatingBendingProcessNew"/>
    <dgm:cxn modelId="{906F8A3D-6836-A34C-B838-D249D358F1D9}" type="presOf" srcId="{3F3EB0F2-5713-4803-A9A8-FD72DA11B221}" destId="{DEBAEBA5-938F-D34E-BECA-99CC9336D4EF}" srcOrd="0" destOrd="0" presId="urn:microsoft.com/office/officeart/2016/7/layout/RepeatingBendingProcessNew"/>
    <dgm:cxn modelId="{E811B065-F831-46A6-B86B-BF125402789B}" srcId="{1AB8E8BF-7BCE-4F29-A091-6115B644471B}" destId="{531AE1A7-421E-4270-B0A5-A74D32784AC2}" srcOrd="2" destOrd="0" parTransId="{A8B4636D-46E1-4BAB-86AB-E2D1D0822A41}" sibTransId="{3F3EB0F2-5713-4803-A9A8-FD72DA11B221}"/>
    <dgm:cxn modelId="{B86FC26E-8029-4271-A623-4F0178B857DC}" srcId="{1AB8E8BF-7BCE-4F29-A091-6115B644471B}" destId="{47DECF74-DE78-4547-97B0-00490D01C848}" srcOrd="1" destOrd="0" parTransId="{7CE5872F-AF99-4AAF-8D56-341FD239CA9C}" sibTransId="{F0D89DFC-453D-494A-8E4D-AE273E67774D}"/>
    <dgm:cxn modelId="{A259E392-2581-F941-BC12-E4B483D2A120}" type="presOf" srcId="{F0D89DFC-453D-494A-8E4D-AE273E67774D}" destId="{847DB5AA-BC2C-5D47-B4A4-D70FE7C31D4A}" srcOrd="1" destOrd="0" presId="urn:microsoft.com/office/officeart/2016/7/layout/RepeatingBendingProcessNew"/>
    <dgm:cxn modelId="{DF8EBB93-7C6F-504E-AAEE-E7AB312BA6D3}" type="presOf" srcId="{F0D89DFC-453D-494A-8E4D-AE273E67774D}" destId="{FE56766E-540A-4D41-8E5C-6DAB1B1736B3}" srcOrd="0" destOrd="0" presId="urn:microsoft.com/office/officeart/2016/7/layout/RepeatingBendingProcessNew"/>
    <dgm:cxn modelId="{E85ADE9A-A6EC-E846-A1F8-DDA104A5BBFE}" type="presOf" srcId="{3F3EB0F2-5713-4803-A9A8-FD72DA11B221}" destId="{7FEE14F7-7878-B446-A1DE-83365BE77967}" srcOrd="1" destOrd="0" presId="urn:microsoft.com/office/officeart/2016/7/layout/RepeatingBendingProcessNew"/>
    <dgm:cxn modelId="{78AEA8AB-BDC9-D249-B632-18A7AA22BDA9}" type="presOf" srcId="{1AB8E8BF-7BCE-4F29-A091-6115B644471B}" destId="{45ED9AD8-FB4B-714A-9377-EC5A5CD9907A}" srcOrd="0" destOrd="0" presId="urn:microsoft.com/office/officeart/2016/7/layout/RepeatingBendingProcessNew"/>
    <dgm:cxn modelId="{07A655AD-6350-B643-82F4-1A1C4945840F}" type="presOf" srcId="{D6F434E3-F383-4185-A391-B6B2DAA5E3FA}" destId="{ABE33520-FAC6-624A-8EFD-762B97D1F16D}" srcOrd="0" destOrd="0" presId="urn:microsoft.com/office/officeart/2016/7/layout/RepeatingBendingProcessNew"/>
    <dgm:cxn modelId="{7E6776B2-A752-4F22-A014-474443F006F7}" srcId="{1AB8E8BF-7BCE-4F29-A091-6115B644471B}" destId="{1353DD71-BF28-4971-B111-F2AA8C8D5D00}" srcOrd="5" destOrd="0" parTransId="{56D769CD-2CC1-4BFE-AD82-AD2D87261EAF}" sibTransId="{33E5A2C2-7A03-4813-BC6B-6162CB438DF5}"/>
    <dgm:cxn modelId="{C01255BE-0F54-854F-9668-F811C3739DCF}" type="presOf" srcId="{9849F652-20BE-45F3-9EE2-1FB314779336}" destId="{CEAFC0A6-A1FB-584C-B5AF-911652788DA3}" srcOrd="0" destOrd="0" presId="urn:microsoft.com/office/officeart/2016/7/layout/RepeatingBendingProcessNew"/>
    <dgm:cxn modelId="{6E368AC6-9EA9-8743-984A-2A3FBC49118E}" type="presOf" srcId="{3DD570B7-D00F-4DD0-BEEC-1F1D71AA3540}" destId="{40A79C42-92A4-8344-A47B-A04FD4491D3C}" srcOrd="0" destOrd="0" presId="urn:microsoft.com/office/officeart/2016/7/layout/RepeatingBendingProcessNew"/>
    <dgm:cxn modelId="{9C2E97C8-E46C-4F43-B4C3-1719EDD74968}" type="presOf" srcId="{531AE1A7-421E-4270-B0A5-A74D32784AC2}" destId="{316558A3-E6D8-4945-B224-3186409311BA}" srcOrd="0" destOrd="0" presId="urn:microsoft.com/office/officeart/2016/7/layout/RepeatingBendingProcessNew"/>
    <dgm:cxn modelId="{0B942DDF-9012-424B-AE9F-876CFD18F449}" type="presOf" srcId="{1353DD71-BF28-4971-B111-F2AA8C8D5D00}" destId="{BB29C139-C690-9843-8556-11F8ED642E05}" srcOrd="0" destOrd="0" presId="urn:microsoft.com/office/officeart/2016/7/layout/RepeatingBendingProcessNew"/>
    <dgm:cxn modelId="{B4FE4FE8-7159-4203-A534-FF9C3FBB4138}" srcId="{1AB8E8BF-7BCE-4F29-A091-6115B644471B}" destId="{FF28D71F-E9E1-4EAB-AD1D-4F2E3F8F9FB7}" srcOrd="3" destOrd="0" parTransId="{34645C7E-722A-4648-B39E-9EEF8B95B05D}" sibTransId="{3DD570B7-D00F-4DD0-BEEC-1F1D71AA3540}"/>
    <dgm:cxn modelId="{8BBB17ED-5360-3C4D-A998-DFED4CE5BFFA}" type="presOf" srcId="{65499A69-AF54-492E-83B3-D0862365CBC2}" destId="{1894825B-2A0B-9747-BFE7-2C65B1FCB746}" srcOrd="0" destOrd="0" presId="urn:microsoft.com/office/officeart/2016/7/layout/RepeatingBendingProcessNew"/>
    <dgm:cxn modelId="{E3639EC5-88B0-3F4C-B466-253F686F0ED2}" type="presParOf" srcId="{45ED9AD8-FB4B-714A-9377-EC5A5CD9907A}" destId="{ABE33520-FAC6-624A-8EFD-762B97D1F16D}" srcOrd="0" destOrd="0" presId="urn:microsoft.com/office/officeart/2016/7/layout/RepeatingBendingProcessNew"/>
    <dgm:cxn modelId="{487F0331-6D5E-774A-A940-CAA8C0ADFBF5}" type="presParOf" srcId="{45ED9AD8-FB4B-714A-9377-EC5A5CD9907A}" destId="{1894825B-2A0B-9747-BFE7-2C65B1FCB746}" srcOrd="1" destOrd="0" presId="urn:microsoft.com/office/officeart/2016/7/layout/RepeatingBendingProcessNew"/>
    <dgm:cxn modelId="{E9F99959-E189-0E45-B3CF-AA531B9802B8}" type="presParOf" srcId="{1894825B-2A0B-9747-BFE7-2C65B1FCB746}" destId="{0FBAD16B-144A-2241-8747-723D772A0D5B}" srcOrd="0" destOrd="0" presId="urn:microsoft.com/office/officeart/2016/7/layout/RepeatingBendingProcessNew"/>
    <dgm:cxn modelId="{B2C7D967-B81C-014E-ACAB-2A424531C0D6}" type="presParOf" srcId="{45ED9AD8-FB4B-714A-9377-EC5A5CD9907A}" destId="{F67AFCCA-7DE9-1149-97A6-0DC731259B28}" srcOrd="2" destOrd="0" presId="urn:microsoft.com/office/officeart/2016/7/layout/RepeatingBendingProcessNew"/>
    <dgm:cxn modelId="{D4A029B9-9FF0-4140-9D57-8295A05669E2}" type="presParOf" srcId="{45ED9AD8-FB4B-714A-9377-EC5A5CD9907A}" destId="{FE56766E-540A-4D41-8E5C-6DAB1B1736B3}" srcOrd="3" destOrd="0" presId="urn:microsoft.com/office/officeart/2016/7/layout/RepeatingBendingProcessNew"/>
    <dgm:cxn modelId="{7ABF402B-591D-1C47-B6CB-0B2317B5825F}" type="presParOf" srcId="{FE56766E-540A-4D41-8E5C-6DAB1B1736B3}" destId="{847DB5AA-BC2C-5D47-B4A4-D70FE7C31D4A}" srcOrd="0" destOrd="0" presId="urn:microsoft.com/office/officeart/2016/7/layout/RepeatingBendingProcessNew"/>
    <dgm:cxn modelId="{924C5BC9-DEA4-EE4C-9A4C-6EEFADF58DD1}" type="presParOf" srcId="{45ED9AD8-FB4B-714A-9377-EC5A5CD9907A}" destId="{316558A3-E6D8-4945-B224-3186409311BA}" srcOrd="4" destOrd="0" presId="urn:microsoft.com/office/officeart/2016/7/layout/RepeatingBendingProcessNew"/>
    <dgm:cxn modelId="{5BCC5E9C-8888-7E4F-A7A0-BEE63F6E3D7B}" type="presParOf" srcId="{45ED9AD8-FB4B-714A-9377-EC5A5CD9907A}" destId="{DEBAEBA5-938F-D34E-BECA-99CC9336D4EF}" srcOrd="5" destOrd="0" presId="urn:microsoft.com/office/officeart/2016/7/layout/RepeatingBendingProcessNew"/>
    <dgm:cxn modelId="{48C3F916-7621-BA47-8B0D-EF993643F417}" type="presParOf" srcId="{DEBAEBA5-938F-D34E-BECA-99CC9336D4EF}" destId="{7FEE14F7-7878-B446-A1DE-83365BE77967}" srcOrd="0" destOrd="0" presId="urn:microsoft.com/office/officeart/2016/7/layout/RepeatingBendingProcessNew"/>
    <dgm:cxn modelId="{02623848-9205-2E4D-AF21-76EA0B537332}" type="presParOf" srcId="{45ED9AD8-FB4B-714A-9377-EC5A5CD9907A}" destId="{9A80917B-3BCD-6B43-99A7-F8A0D3859D21}" srcOrd="6" destOrd="0" presId="urn:microsoft.com/office/officeart/2016/7/layout/RepeatingBendingProcessNew"/>
    <dgm:cxn modelId="{81226EA1-08CB-B74F-8EA3-4616BD9D8A89}" type="presParOf" srcId="{45ED9AD8-FB4B-714A-9377-EC5A5CD9907A}" destId="{40A79C42-92A4-8344-A47B-A04FD4491D3C}" srcOrd="7" destOrd="0" presId="urn:microsoft.com/office/officeart/2016/7/layout/RepeatingBendingProcessNew"/>
    <dgm:cxn modelId="{627D95DF-CE9F-404C-9C87-4367DDBBAB41}" type="presParOf" srcId="{40A79C42-92A4-8344-A47B-A04FD4491D3C}" destId="{18A204A1-80F5-EA4B-9721-B8BDF45CCAFB}" srcOrd="0" destOrd="0" presId="urn:microsoft.com/office/officeart/2016/7/layout/RepeatingBendingProcessNew"/>
    <dgm:cxn modelId="{C79B21A7-413D-0A4B-81BA-25887756B2E2}" type="presParOf" srcId="{45ED9AD8-FB4B-714A-9377-EC5A5CD9907A}" destId="{FCC39425-6452-0242-92A6-FA1C8A57E0C5}" srcOrd="8" destOrd="0" presId="urn:microsoft.com/office/officeart/2016/7/layout/RepeatingBendingProcessNew"/>
    <dgm:cxn modelId="{95419402-8296-FC4E-8684-84F2836A860B}" type="presParOf" srcId="{45ED9AD8-FB4B-714A-9377-EC5A5CD9907A}" destId="{CEAFC0A6-A1FB-584C-B5AF-911652788DA3}" srcOrd="9" destOrd="0" presId="urn:microsoft.com/office/officeart/2016/7/layout/RepeatingBendingProcessNew"/>
    <dgm:cxn modelId="{2C232CB1-A0AB-8547-B8C9-10EF26631E7C}" type="presParOf" srcId="{CEAFC0A6-A1FB-584C-B5AF-911652788DA3}" destId="{D83B74C2-AABA-1F48-8926-2BF27961FC0B}" srcOrd="0" destOrd="0" presId="urn:microsoft.com/office/officeart/2016/7/layout/RepeatingBendingProcessNew"/>
    <dgm:cxn modelId="{F6A875ED-258A-E945-9689-9462A14C6D4C}" type="presParOf" srcId="{45ED9AD8-FB4B-714A-9377-EC5A5CD9907A}" destId="{BB29C139-C690-9843-8556-11F8ED642E05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82D4D8-A47B-5A4A-ADF4-767FE3853C5F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2A5440-DD07-0A4B-8D63-2AD0E8C4B613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Detalhar a arquitetura </a:t>
          </a:r>
          <a:r>
            <a:rPr lang="pt-BR" sz="2700" i="1" kern="1200" dirty="0"/>
            <a:t>Transformer</a:t>
          </a:r>
          <a:r>
            <a:rPr lang="pt-BR" sz="2700" kern="1200" dirty="0"/>
            <a:t> e os </a:t>
          </a:r>
          <a:r>
            <a:rPr lang="pt-BR" sz="2700" i="1" kern="1200" dirty="0"/>
            <a:t>LLMs</a:t>
          </a:r>
          <a:r>
            <a:rPr lang="pt-BR" sz="2700" kern="1200" dirty="0"/>
            <a:t> — a tecnologia específica que impulsionou a revolução da </a:t>
          </a:r>
          <a:r>
            <a:rPr lang="pt-BR" sz="2700" b="1" kern="1200" dirty="0"/>
            <a:t>IA generativa</a:t>
          </a:r>
          <a:r>
            <a:rPr lang="pt-BR" sz="2700" kern="1200" dirty="0"/>
            <a:t> em linguagem. </a:t>
          </a:r>
          <a:endParaRPr lang="en-US" sz="2700" kern="1200" dirty="0"/>
        </a:p>
      </dsp:txBody>
      <dsp:txXfrm>
        <a:off x="696297" y="538547"/>
        <a:ext cx="4171627" cy="2590157"/>
      </dsp:txXfrm>
    </dsp:sp>
    <dsp:sp modelId="{33FE4CCF-4553-1143-802A-DC1F8A5B6ACE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B6344-2AD7-3845-906F-5631E447BBF7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i="1" kern="1200" dirty="0"/>
            <a:t>Compreender como esses modelos funcionam é essencial para usá-los estrategicamente.</a:t>
          </a:r>
          <a:endParaRPr lang="en-US" sz="2700" kern="1200" dirty="0"/>
        </a:p>
      </dsp:txBody>
      <dsp:txXfrm>
        <a:off x="5991936" y="538547"/>
        <a:ext cx="4171627" cy="2590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94825B-2A0B-9747-BFE7-2C65B1FCB746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357014" y="912848"/>
        <a:ext cx="34897" cy="6979"/>
      </dsp:txXfrm>
    </dsp:sp>
    <dsp:sp modelId="{ABE33520-FAC6-624A-8EFD-762B97D1F16D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Panorama Geral da IA: cronologia e oportunidades;</a:t>
          </a:r>
          <a:endParaRPr lang="en-US" sz="2100" kern="1200" dirty="0"/>
        </a:p>
      </dsp:txBody>
      <dsp:txXfrm>
        <a:off x="8061" y="5979"/>
        <a:ext cx="3034531" cy="1820718"/>
      </dsp:txXfrm>
    </dsp:sp>
    <dsp:sp modelId="{FE56766E-540A-4D41-8E5C-6DAB1B1736B3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7089488" y="912848"/>
        <a:ext cx="34897" cy="6979"/>
      </dsp:txXfrm>
    </dsp:sp>
    <dsp:sp modelId="{F67AFCCA-7DE9-1149-97A6-0DC731259B28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A arquitetura Transformer: atenção, tokens e embeddings (sem matemática);</a:t>
          </a:r>
          <a:endParaRPr lang="en-US" sz="2100" kern="1200" dirty="0"/>
        </a:p>
      </dsp:txBody>
      <dsp:txXfrm>
        <a:off x="3740534" y="5979"/>
        <a:ext cx="3034531" cy="1820718"/>
      </dsp:txXfrm>
    </dsp:sp>
    <dsp:sp modelId="{DEBAEBA5-938F-D34E-BECA-99CC9336D4EF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5070362" y="2155079"/>
        <a:ext cx="374875" cy="6979"/>
      </dsp:txXfrm>
    </dsp:sp>
    <dsp:sp modelId="{316558A3-E6D8-4945-B224-3186409311BA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Como LLMs são treinados: dados, RLHF e alinhamento com intenção humana </a:t>
          </a:r>
          <a:endParaRPr lang="en-US" sz="2100" kern="1200" dirty="0"/>
        </a:p>
      </dsp:txBody>
      <dsp:txXfrm>
        <a:off x="7473007" y="5979"/>
        <a:ext cx="3034531" cy="1820718"/>
      </dsp:txXfrm>
    </dsp:sp>
    <dsp:sp modelId="{40A79C42-92A4-8344-A47B-A04FD4491D3C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357014" y="3431509"/>
        <a:ext cx="34897" cy="6979"/>
      </dsp:txXfrm>
    </dsp:sp>
    <dsp:sp modelId="{9A80917B-3BCD-6B43-99A7-F8A0D3859D21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Capacidades emergentes: raciocínio, geração de código e multimodalidade;</a:t>
          </a:r>
          <a:endParaRPr lang="en-US" sz="2100" kern="1200" dirty="0"/>
        </a:p>
      </dsp:txBody>
      <dsp:txXfrm>
        <a:off x="8061" y="2524640"/>
        <a:ext cx="3034531" cy="1820718"/>
      </dsp:txXfrm>
    </dsp:sp>
    <dsp:sp modelId="{CEAFC0A6-A1FB-584C-B5AF-911652788DA3}">
      <dsp:nvSpPr>
        <dsp:cNvPr id="0" name=""/>
        <dsp:cNvSpPr/>
      </dsp:nvSpPr>
      <dsp:spPr>
        <a:xfrm>
          <a:off x="6773265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7089488" y="3431509"/>
        <a:ext cx="34897" cy="6979"/>
      </dsp:txXfrm>
    </dsp:sp>
    <dsp:sp modelId="{FCC39425-6452-0242-92A6-FA1C8A57E0C5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Contexto e memória: limitações de janela de contexto e estratégias de contorno;</a:t>
          </a:r>
          <a:endParaRPr lang="en-US" sz="2100" kern="1200" dirty="0"/>
        </a:p>
      </dsp:txBody>
      <dsp:txXfrm>
        <a:off x="3740534" y="2524640"/>
        <a:ext cx="3034531" cy="1820718"/>
      </dsp:txXfrm>
    </dsp:sp>
    <dsp:sp modelId="{BB29C139-C690-9843-8556-11F8ED642E05}">
      <dsp:nvSpPr>
        <dsp:cNvPr id="0" name=""/>
        <dsp:cNvSpPr/>
      </dsp:nvSpPr>
      <dsp:spPr>
        <a:xfrm>
          <a:off x="7473007" y="2524640"/>
          <a:ext cx="3034531" cy="1820718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Principais LLMs do mercado: GPT, Claude, Gemini, Llama — diferenças e posicionamento.</a:t>
          </a:r>
          <a:endParaRPr lang="en-US" sz="2100" kern="1200" dirty="0"/>
        </a:p>
      </dsp:txBody>
      <dsp:txXfrm>
        <a:off x="7473007" y="2524640"/>
        <a:ext cx="3034531" cy="1820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72764-C909-6735-8A1B-CD06602AC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5D4895-5348-9903-8B15-E20FC810D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5A3FB9-172C-3246-1B97-36E227921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CD5F7E-C0D7-3103-53C7-860A0C7E1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773792-11CE-7B60-EF5B-375AA23AD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805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3EB252-CC3C-A5C6-6B46-27B924067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C05F15-5990-4C9E-03D9-042E309D2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DE2635-B1D4-AFB6-50E0-360ED7016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66CA0C-F5D1-5B34-5F01-284FC2D46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6694D5-C365-8436-A1F0-BB0BA16D8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573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F2684-4CA5-9D21-0BF4-9B7B280C4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5A3E2-6170-D9F1-CF29-D000F26EF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F7507C-CBE5-67A2-CD0F-A809E7954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2C4491-F49F-9FEB-8231-9C4A1425B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1957B7-6ED2-243C-54A0-0E023F750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498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427FB1-E834-EC20-ED55-EC836EAD4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F0B38F-9F26-B01D-C486-03399FAC40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771D3AC-AAF4-BE97-7BD6-276AA7362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CA0123-BB2D-FE0A-CE7D-F17D8BB6E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E33E20-4DBB-3373-9881-5E76B879C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D272CA-ABE0-ADFF-AD56-5D3A05588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98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1F84E-5993-F5D6-3AC6-655FCC3A0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67B7F0-7E61-3DFA-1D12-1516E1225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30147E-8496-C151-6D5B-FF8E0BAE6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D4B5F4B-13E2-9E7B-DD4C-DA0A6224B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B33CD3D-0716-95B0-070A-A93E935527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9F33271-6147-1E83-C11A-E5FD2290B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743C917-AE61-6525-9089-8927594AA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3D5864-F6C3-EB85-0C6E-12085081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4539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E2F269-D313-317B-E6E8-8E8EA450C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E34F16-B5C5-8E84-5F46-B89F0974C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44F5554-E3AB-49F4-93E1-71DA6F89A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C4E9846-3A44-0B45-41B6-A88BF8493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796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1515F65-F257-4E2A-5A4E-5A2C51E98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B31A11F-E74A-ABAB-3737-A3308313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FA7AC4-144D-71FD-C1C3-3BC99F42D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9457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D81C60-B878-E491-C566-6CD651E42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4A1974-410F-892F-043F-FFFB58AB0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6D23B0-95E9-9230-E757-3FB0681E4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8B08CE6-8142-0ACB-3B27-EAFB3B34F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686951-7604-B709-2156-9AE5FC444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D57190-1198-FC3A-43CE-BB6AABAF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4746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0E128-42E0-B4B5-9486-1CD3EFCCD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8FC49E9-136A-64A7-155F-5B0A6F8B59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523261-9707-F3F0-AA22-9042034BE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0DCEA2-F5BE-C8BA-6A0E-E7D13E0A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30AA7-1A1C-4F21-3FDA-4A2DF0AC8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CE547C-939C-1E3F-864E-B6A43E2B9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160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A064C-7CDA-CF5B-5251-31B222CAF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9D04F56-1879-E16D-6B8F-1145537EE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FA269C-A3AF-7AE6-A29B-5B405C004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4B71C1-2C75-07CB-90E4-5584697D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B3C9C2-B7C8-1CA3-1698-389D425D2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3239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3E1656E-9654-636D-A37A-4F8F1C4CC9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0D04B8-CC1C-1C6E-2A46-DB5A4D0B1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C3051B-8A70-4BDE-A2C4-09D3412C4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C1C12-A2F4-F440-A547-B800774F760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00A601-C345-B67B-FCFC-55AE9B26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834257-E7CD-269B-C88C-167677FA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5831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A5BE93E-7596-6AE8-98C8-16D1DCAB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0B0179-68F9-56B7-A796-00552291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1B6B16-E071-2A74-09BC-6DF7879799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AC1C12-A2F4-F440-A547-B800774F7607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ADEB65-AD89-F37C-59CE-448FC2322E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22987B-3A23-881A-66CA-FEB06954B5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3BB6E1-DE53-5342-86D5-9403ADE2B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3793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E810AE-AA33-F0BE-5A5D-EAF35E42D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4815" y="798703"/>
            <a:ext cx="5221185" cy="3072015"/>
          </a:xfrm>
        </p:spPr>
        <p:txBody>
          <a:bodyPr anchor="b">
            <a:normAutofit/>
          </a:bodyPr>
          <a:lstStyle/>
          <a:p>
            <a:r>
              <a:rPr lang="pt-BR" sz="5100" dirty="0"/>
              <a:t>O modelo de negócios </a:t>
            </a:r>
            <a:br>
              <a:rPr lang="pt-BR" sz="5100" dirty="0"/>
            </a:br>
            <a:r>
              <a:rPr lang="pt-BR" sz="5100" dirty="0"/>
              <a:t>dos LLM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F98E9F-AEDC-B5A0-4BF6-824CED3269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0148" y="3962792"/>
            <a:ext cx="5221185" cy="2102108"/>
          </a:xfrm>
        </p:spPr>
        <p:txBody>
          <a:bodyPr anchor="t">
            <a:normAutofit/>
          </a:bodyPr>
          <a:lstStyle/>
          <a:p>
            <a:r>
              <a:rPr lang="pt-BR" sz="1100" b="1" i="1" dirty="0"/>
              <a:t>Transformers e Large Language Models</a:t>
            </a:r>
          </a:p>
          <a:p>
            <a:r>
              <a:rPr lang="pt-BR" sz="1100" b="1" i="1" dirty="0"/>
              <a:t>Aula 03 – 3 de Abril de 2026</a:t>
            </a:r>
          </a:p>
          <a:p>
            <a:endParaRPr lang="pt-BR" sz="1100" b="1" i="1" dirty="0"/>
          </a:p>
          <a:p>
            <a:endParaRPr lang="pt-BR" sz="1100" i="1" dirty="0"/>
          </a:p>
          <a:p>
            <a:endParaRPr lang="pt-BR" sz="1100" i="1" dirty="0"/>
          </a:p>
          <a:p>
            <a:r>
              <a:rPr lang="pt-BR" sz="1100" b="1" dirty="0"/>
              <a:t>Vítor Wilher</a:t>
            </a:r>
            <a:endParaRPr lang="pt-BR" sz="1100" dirty="0"/>
          </a:p>
          <a:p>
            <a:r>
              <a:rPr lang="pt-BR" sz="1100" dirty="0"/>
              <a:t>Data Tech Lead na Análise Macro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0A167A06-F9F8-4C50-1CDE-91FDF8326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243" y="1495701"/>
            <a:ext cx="4939504" cy="3483650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68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480E7A-1FF8-6E8E-D96A-7795E489E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pt-BR" sz="5400" dirty="0"/>
              <a:t>Plano de Voo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BA0DDA-7BB0-5FC0-33CC-F06D5BF82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fontScale="92500" lnSpcReduction="20000"/>
          </a:bodyPr>
          <a:lstStyle/>
          <a:p>
            <a:r>
              <a:rPr lang="pt-BR" sz="2000" dirty="0"/>
              <a:t>Modelo como Serviço</a:t>
            </a:r>
          </a:p>
          <a:p>
            <a:r>
              <a:rPr lang="pt-BR" sz="2000" dirty="0"/>
              <a:t>Revisão sobre LLM (O que é um LLM de verdade)</a:t>
            </a:r>
          </a:p>
          <a:p>
            <a:r>
              <a:rPr lang="pt-BR" sz="2000" dirty="0"/>
              <a:t>Cadeia de Valor dos </a:t>
            </a:r>
            <a:r>
              <a:rPr lang="pt-BR" sz="2000" dirty="0" err="1"/>
              <a:t>LLMs</a:t>
            </a:r>
            <a:endParaRPr lang="pt-BR" sz="2000" dirty="0"/>
          </a:p>
          <a:p>
            <a:r>
              <a:rPr lang="pt-BR" sz="2000" dirty="0"/>
              <a:t>Os principais players do mercado</a:t>
            </a:r>
          </a:p>
          <a:p>
            <a:r>
              <a:rPr lang="pt-BR" sz="2000" dirty="0"/>
              <a:t>Guerra, futuro e oportunidade</a:t>
            </a:r>
          </a:p>
          <a:p>
            <a:r>
              <a:rPr lang="pt-BR" sz="2000" dirty="0"/>
              <a:t>Exemplo 1: IA vs. Modelos Clássicos</a:t>
            </a:r>
          </a:p>
          <a:p>
            <a:r>
              <a:rPr lang="pt-BR" sz="2000" dirty="0"/>
              <a:t>Exemplo 2: Agente de IA na Saúde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</p:txBody>
      </p:sp>
      <p:pic>
        <p:nvPicPr>
          <p:cNvPr id="7" name="Graphic 6" descr="Chave">
            <a:extLst>
              <a:ext uri="{FF2B5EF4-FFF2-40B4-BE49-F238E27FC236}">
                <a16:creationId xmlns:a16="http://schemas.microsoft.com/office/drawing/2014/main" id="{FACAC472-B5CE-A9CA-66B6-849F1F3FD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7236" y="640080"/>
            <a:ext cx="557784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869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BE1AA-9264-4A27-1C91-5A68E9B1F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900E08-A7E0-1635-1A3A-9C6D721AD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pt-BR" sz="3400" dirty="0"/>
              <a:t>Ementa </a:t>
            </a:r>
            <a:br>
              <a:rPr lang="pt-BR" sz="3400" dirty="0"/>
            </a:br>
            <a:r>
              <a:rPr lang="pt-BR" sz="3400" dirty="0"/>
              <a:t>Resumida </a:t>
            </a:r>
            <a:br>
              <a:rPr lang="pt-BR" sz="3400" dirty="0"/>
            </a:br>
            <a:r>
              <a:rPr lang="pt-BR" sz="3400" dirty="0"/>
              <a:t>do Curso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Espaço Reservado para Conteúdo 2">
            <a:extLst>
              <a:ext uri="{FF2B5EF4-FFF2-40B4-BE49-F238E27FC236}">
                <a16:creationId xmlns:a16="http://schemas.microsoft.com/office/drawing/2014/main" id="{DC5F5528-199B-F5A4-542C-C928F1A3E9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3236989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0993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8CFCE0-BA54-8743-C18D-82A50F512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196C5E53-19B9-8EBE-9410-BB0EA32950C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224468-7974-CB49-AF46-D59F94BA6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/>
              <a:t>O que veremos hoje...</a:t>
            </a:r>
          </a:p>
        </p:txBody>
      </p:sp>
      <p:graphicFrame>
        <p:nvGraphicFramePr>
          <p:cNvPr id="26" name="Espaço Reservado para Conteúdo 2">
            <a:extLst>
              <a:ext uri="{FF2B5EF4-FFF2-40B4-BE49-F238E27FC236}">
                <a16:creationId xmlns:a16="http://schemas.microsoft.com/office/drawing/2014/main" id="{BAA8DE2B-2747-A380-D59A-BC6684BDEF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42948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1628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E56EA-319F-C90E-6DB5-A189430E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89379-7A06-B71F-1369-04B1B60A4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199"/>
            <a:ext cx="4191000" cy="5338763"/>
          </a:xfrm>
        </p:spPr>
        <p:txBody>
          <a:bodyPr>
            <a:normAutofit/>
          </a:bodyPr>
          <a:lstStyle/>
          <a:p>
            <a:r>
              <a:rPr lang="pt-BR" b="1" dirty="0"/>
              <a:t>Modelo como Serviço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3DEFF5-EE95-FABA-64E6-C69C4BE23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332" y="838199"/>
            <a:ext cx="6051468" cy="53387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 b="1" dirty="0"/>
              <a:t>O aumento dos modelos de IA tem duas grandes consequências.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Primeiro, os modelos de IA estão se tornando mais poderosos e capazes de mais tarefas, </a:t>
            </a:r>
            <a:r>
              <a:rPr lang="pt-BR" sz="2000" b="1" dirty="0"/>
              <a:t>permitindo mais aplicativos.</a:t>
            </a:r>
            <a:r>
              <a:rPr lang="pt-BR" sz="2000" dirty="0"/>
              <a:t> 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i="1" dirty="0"/>
              <a:t>Mais pessoas e equipes aproveitam a IA para aumentar a produtividade, criar valor econômico e melhorar a qualidade de vida.</a:t>
            </a:r>
          </a:p>
        </p:txBody>
      </p:sp>
    </p:spTree>
    <p:extLst>
      <p:ext uri="{BB962C8B-B14F-4D97-AF65-F5344CB8AC3E}">
        <p14:creationId xmlns:p14="http://schemas.microsoft.com/office/powerpoint/2010/main" val="1844955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336AB-34DE-AD8B-9107-1A437C692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06B33-BD9B-1686-866E-55EB9BD53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199"/>
            <a:ext cx="4191000" cy="5338763"/>
          </a:xfrm>
        </p:spPr>
        <p:txBody>
          <a:bodyPr>
            <a:normAutofit/>
          </a:bodyPr>
          <a:lstStyle/>
          <a:p>
            <a:r>
              <a:rPr lang="pt-BR" b="1" dirty="0"/>
              <a:t>Modelo como Serviço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1C6FA0-7416-D985-BBAD-3F5675B84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332" y="838199"/>
            <a:ext cx="6051468" cy="53387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 dirty="0"/>
              <a:t>Em segundo lugar, </a:t>
            </a:r>
            <a:r>
              <a:rPr lang="pt-BR" sz="2000" b="1" i="1" dirty="0"/>
              <a:t>o treinamento de grandes modelos de linguagem (LLMs) requer dados, recursos de computação e talentos especializados que apenas algumas organizações podem pagar.</a:t>
            </a:r>
            <a:r>
              <a:rPr lang="pt-BR" sz="2000" dirty="0"/>
              <a:t> </a:t>
            </a:r>
          </a:p>
          <a:p>
            <a:pPr marL="0" indent="0">
              <a:buNone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218994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6053A-D95B-C955-CE52-51F6C94AC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04F36-3FED-8EDB-7284-030EA80F1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199"/>
            <a:ext cx="4191000" cy="5338763"/>
          </a:xfrm>
        </p:spPr>
        <p:txBody>
          <a:bodyPr>
            <a:normAutofit/>
          </a:bodyPr>
          <a:lstStyle/>
          <a:p>
            <a:r>
              <a:rPr lang="pt-BR" b="1" i="1" dirty="0"/>
              <a:t>Modelo </a:t>
            </a:r>
            <a:br>
              <a:rPr lang="pt-BR" b="1" i="1" dirty="0"/>
            </a:br>
            <a:r>
              <a:rPr lang="pt-BR" b="1" i="1" dirty="0"/>
              <a:t>como Serviço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EC55FF-306D-6B1C-4A23-A8A539731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332" y="838199"/>
            <a:ext cx="6051468" cy="53387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 dirty="0"/>
              <a:t>Isso levou ao surgimento do </a:t>
            </a:r>
            <a:r>
              <a:rPr lang="pt-BR" sz="2000" i="1" dirty="0"/>
              <a:t>modelo como serviço</a:t>
            </a:r>
            <a:r>
              <a:rPr lang="pt-BR" sz="2000" dirty="0"/>
              <a:t>: os modelos desenvolvidos por essas poucas organizações são disponibilizados para que outras usem como um serviço. </a:t>
            </a:r>
          </a:p>
          <a:p>
            <a:pPr marL="0" indent="0">
              <a:buNone/>
            </a:pPr>
            <a:endParaRPr lang="pt-BR" sz="2000" dirty="0"/>
          </a:p>
          <a:p>
            <a:pPr marL="0" indent="0" algn="ctr">
              <a:buNone/>
            </a:pPr>
            <a:r>
              <a:rPr lang="pt-BR" sz="2000" b="1" dirty="0">
                <a:solidFill>
                  <a:srgbClr val="FF0000"/>
                </a:solidFill>
              </a:rPr>
              <a:t>Qualquer pessoa que deseje aproveitar a IA para criar aplicativos agora pode usar esses modelos para fazê-lo sem ter que investir de antemão na construção de um modelo.</a:t>
            </a:r>
          </a:p>
        </p:txBody>
      </p:sp>
    </p:spTree>
    <p:extLst>
      <p:ext uri="{BB962C8B-B14F-4D97-AF65-F5344CB8AC3E}">
        <p14:creationId xmlns:p14="http://schemas.microsoft.com/office/powerpoint/2010/main" val="2701667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76FBE-5186-464D-FA2C-24E3CCB85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LLM de verdade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B4F0A3-2CCC-370C-DAC6-23C7EAD3C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Tokens, </a:t>
            </a:r>
            <a:r>
              <a:rPr lang="pt-BR" dirty="0" err="1"/>
              <a:t>embeddings</a:t>
            </a:r>
            <a:r>
              <a:rPr lang="pt-BR" dirty="0"/>
              <a:t>, atenção</a:t>
            </a:r>
          </a:p>
          <a:p>
            <a:r>
              <a:rPr lang="pt-BR" dirty="0"/>
              <a:t>O que faz um modelo “grande”:</a:t>
            </a:r>
          </a:p>
          <a:p>
            <a:pPr lvl="1"/>
            <a:r>
              <a:rPr lang="pt-BR" dirty="0"/>
              <a:t>Parâmetros</a:t>
            </a:r>
          </a:p>
          <a:p>
            <a:pPr lvl="1"/>
            <a:r>
              <a:rPr lang="pt-BR" dirty="0"/>
              <a:t>Dados</a:t>
            </a:r>
          </a:p>
          <a:p>
            <a:pPr lvl="1"/>
            <a:r>
              <a:rPr lang="pt-BR" dirty="0"/>
              <a:t>Contexto</a:t>
            </a:r>
          </a:p>
          <a:p>
            <a:pPr lvl="1"/>
            <a:r>
              <a:rPr lang="pt-BR" dirty="0"/>
              <a:t>Capacidade de generalização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💡 Insight:</a:t>
            </a:r>
          </a:p>
          <a:p>
            <a:r>
              <a:rPr lang="pt-BR" dirty="0"/>
              <a:t>“LLM não entende. Ele prevê. E isso já é suficiente para mudar o mundo.”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7024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FB5D19-6180-DBAD-66E8-DFF0C0B6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Cadeia de Valor dos </a:t>
            </a:r>
            <a:r>
              <a:rPr lang="pt-BR" dirty="0" err="1"/>
              <a:t>LLMs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B259D8-9F28-B655-425E-206112D45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b="1" dirty="0"/>
              <a:t>Camadas do mercado:</a:t>
            </a:r>
          </a:p>
          <a:p>
            <a:pPr marL="0" indent="0">
              <a:buNone/>
            </a:pPr>
            <a:endParaRPr lang="pt-BR" b="1" dirty="0"/>
          </a:p>
          <a:p>
            <a:r>
              <a:rPr lang="pt-BR" b="1" dirty="0"/>
              <a:t>Infraestrutura</a:t>
            </a:r>
            <a:endParaRPr lang="pt-BR" dirty="0"/>
          </a:p>
          <a:p>
            <a:pPr lvl="1"/>
            <a:r>
              <a:rPr lang="pt-BR" dirty="0"/>
              <a:t>GPUs (NVIDIA)</a:t>
            </a:r>
          </a:p>
          <a:p>
            <a:pPr lvl="1"/>
            <a:r>
              <a:rPr lang="pt-BR" dirty="0"/>
              <a:t>Cloud (</a:t>
            </a:r>
            <a:r>
              <a:rPr lang="pt-BR" dirty="0" err="1"/>
              <a:t>Amazon</a:t>
            </a:r>
            <a:r>
              <a:rPr lang="pt-BR" dirty="0"/>
              <a:t> Web Services, Microsoft Azure, Google Cloud)</a:t>
            </a:r>
          </a:p>
          <a:p>
            <a:r>
              <a:rPr lang="pt-BR" b="1" dirty="0"/>
              <a:t>Modelos fundacionais</a:t>
            </a:r>
            <a:endParaRPr lang="pt-BR" dirty="0"/>
          </a:p>
          <a:p>
            <a:pPr lvl="1"/>
            <a:r>
              <a:rPr lang="pt-BR" dirty="0"/>
              <a:t>Quem treina os </a:t>
            </a:r>
            <a:r>
              <a:rPr lang="pt-BR" dirty="0" err="1"/>
              <a:t>LLMs</a:t>
            </a:r>
            <a:endParaRPr lang="pt-BR" dirty="0"/>
          </a:p>
          <a:p>
            <a:r>
              <a:rPr lang="pt-BR" b="1" dirty="0"/>
              <a:t>Aplicações</a:t>
            </a:r>
            <a:endParaRPr lang="pt-BR" dirty="0"/>
          </a:p>
          <a:p>
            <a:pPr lvl="1"/>
            <a:r>
              <a:rPr lang="pt-BR" dirty="0" err="1"/>
              <a:t>Chatbots</a:t>
            </a:r>
            <a:r>
              <a:rPr lang="pt-BR" dirty="0"/>
              <a:t>, </a:t>
            </a:r>
            <a:r>
              <a:rPr lang="pt-BR" dirty="0" err="1"/>
              <a:t>copilots</a:t>
            </a:r>
            <a:r>
              <a:rPr lang="pt-BR" dirty="0"/>
              <a:t>, automação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💡 Insight:</a:t>
            </a:r>
          </a:p>
          <a:p>
            <a:r>
              <a:rPr lang="pt-BR" dirty="0"/>
              <a:t>“Quem controla a infraestrutura controla o jogo. Quem controla o modelo define as regras.”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9701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A333F0-F227-850C-D603-973286904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principais players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EACB3D-B107-5AEB-4E28-4EBA5A152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1. OpenAI (GPT)</a:t>
            </a:r>
          </a:p>
          <a:p>
            <a:r>
              <a:rPr lang="pt-BR" dirty="0"/>
              <a:t>Estratégia: produto + plataforma</a:t>
            </a:r>
          </a:p>
          <a:p>
            <a:r>
              <a:rPr lang="pt-BR" dirty="0"/>
              <a:t>Diferencial:</a:t>
            </a:r>
          </a:p>
          <a:p>
            <a:pPr lvl="1"/>
            <a:r>
              <a:rPr lang="pt-BR" dirty="0"/>
              <a:t>Melhor equilíbrio geral</a:t>
            </a:r>
          </a:p>
          <a:p>
            <a:pPr lvl="1"/>
            <a:r>
              <a:rPr lang="pt-BR" dirty="0"/>
              <a:t>Ecossistema forte (API + apps)</a:t>
            </a:r>
          </a:p>
          <a:p>
            <a:r>
              <a:rPr lang="pt-BR" dirty="0"/>
              <a:t>Fraqueza:</a:t>
            </a:r>
          </a:p>
          <a:p>
            <a:pPr lvl="1"/>
            <a:r>
              <a:rPr lang="pt-BR" dirty="0"/>
              <a:t>Dependência da Microsoft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💡 Posição:</a:t>
            </a:r>
          </a:p>
          <a:p>
            <a:r>
              <a:rPr lang="pt-BR" dirty="0"/>
              <a:t>“Apple da IA — controle de experiência”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76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7E19E-56E7-4931-C3B1-8CF9367CF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principais players do mercado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B33EE2-2FD1-79D4-7583-3BD6AA61B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2. </a:t>
            </a:r>
            <a:r>
              <a:rPr lang="pt-BR" b="1" dirty="0" err="1"/>
              <a:t>Anthropic</a:t>
            </a:r>
            <a:r>
              <a:rPr lang="pt-BR" b="1" dirty="0"/>
              <a:t> (Claude)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Estratégia: segurança + contexto longo</a:t>
            </a:r>
          </a:p>
          <a:p>
            <a:r>
              <a:rPr lang="pt-BR" dirty="0"/>
              <a:t>Diferencial:</a:t>
            </a:r>
          </a:p>
          <a:p>
            <a:pPr lvl="1"/>
            <a:r>
              <a:rPr lang="pt-BR" dirty="0"/>
              <a:t>Texto longo absurdo</a:t>
            </a:r>
          </a:p>
          <a:p>
            <a:pPr lvl="1"/>
            <a:r>
              <a:rPr lang="pt-BR" dirty="0"/>
              <a:t>Raciocínio mais “limpo”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💡 Posição:</a:t>
            </a:r>
          </a:p>
          <a:p>
            <a:r>
              <a:rPr lang="pt-BR" dirty="0"/>
              <a:t>“O filósofo da turma — pensa antes de falar”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466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763A9-8D81-F208-94A9-7845D27C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principais players do mercado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93BAD7-3262-A7D8-B529-C28BC46D4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3. Google (Gemini)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Estratégia: integração total com ecossistema</a:t>
            </a:r>
          </a:p>
          <a:p>
            <a:r>
              <a:rPr lang="pt-BR" dirty="0"/>
              <a:t>Diferencial:</a:t>
            </a:r>
          </a:p>
          <a:p>
            <a:pPr lvl="1"/>
            <a:r>
              <a:rPr lang="pt-BR" dirty="0"/>
              <a:t>Multimodalidade forte</a:t>
            </a:r>
          </a:p>
          <a:p>
            <a:pPr lvl="1"/>
            <a:r>
              <a:rPr lang="pt-BR" dirty="0"/>
              <a:t>Dados + distribuição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💡 Insight:</a:t>
            </a:r>
          </a:p>
          <a:p>
            <a:r>
              <a:rPr lang="pt-BR" dirty="0"/>
              <a:t>“Google não precisa ganhar. Só não pode perder.”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9445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DC0AC-5C80-C7E6-7137-E5D2A9CF2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principais players do mercado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BD8DEE-CB70-5898-13B9-462324009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4. Meta (</a:t>
            </a:r>
            <a:r>
              <a:rPr lang="pt-BR" b="1" dirty="0" err="1"/>
              <a:t>Llama</a:t>
            </a:r>
            <a:r>
              <a:rPr lang="pt-BR" b="1" dirty="0"/>
              <a:t>)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Estratégia: open-</a:t>
            </a:r>
            <a:r>
              <a:rPr lang="pt-BR" dirty="0" err="1"/>
              <a:t>source</a:t>
            </a:r>
            <a:r>
              <a:rPr lang="pt-BR" dirty="0"/>
              <a:t> (quase)</a:t>
            </a:r>
          </a:p>
          <a:p>
            <a:r>
              <a:rPr lang="pt-BR" dirty="0"/>
              <a:t>Diferencial:</a:t>
            </a:r>
          </a:p>
          <a:p>
            <a:pPr lvl="1"/>
            <a:r>
              <a:rPr lang="pt-BR" dirty="0"/>
              <a:t>Democratização</a:t>
            </a:r>
          </a:p>
          <a:p>
            <a:pPr lvl="1"/>
            <a:r>
              <a:rPr lang="pt-BR" dirty="0"/>
              <a:t>Customização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💡 Posição:</a:t>
            </a:r>
          </a:p>
          <a:p>
            <a:r>
              <a:rPr lang="pt-BR" dirty="0"/>
              <a:t>“Linux da IA”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1607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F183B0-8F9D-6F5E-3F15-45127930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pt-BR"/>
              <a:t>Os principais players do mercado</a:t>
            </a:r>
            <a:endParaRPr lang="pt-BR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8A0686F5-85F3-9389-1072-C452C5A084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3564433"/>
              </p:ext>
            </p:extLst>
          </p:nvPr>
        </p:nvGraphicFramePr>
        <p:xfrm>
          <a:off x="838200" y="2160719"/>
          <a:ext cx="10515601" cy="3888620"/>
        </p:xfrm>
        <a:graphic>
          <a:graphicData uri="http://schemas.openxmlformats.org/drawingml/2006/table">
            <a:tbl>
              <a:tblPr>
                <a:solidFill>
                  <a:schemeClr val="accent1">
                    <a:lumMod val="20000"/>
                    <a:lumOff val="80000"/>
                  </a:schemeClr>
                </a:solidFill>
              </a:tblPr>
              <a:tblGrid>
                <a:gridCol w="1988791">
                  <a:extLst>
                    <a:ext uri="{9D8B030D-6E8A-4147-A177-3AD203B41FA5}">
                      <a16:colId xmlns:a16="http://schemas.microsoft.com/office/drawing/2014/main" val="3298721136"/>
                    </a:ext>
                  </a:extLst>
                </a:gridCol>
                <a:gridCol w="2700784">
                  <a:extLst>
                    <a:ext uri="{9D8B030D-6E8A-4147-A177-3AD203B41FA5}">
                      <a16:colId xmlns:a16="http://schemas.microsoft.com/office/drawing/2014/main" val="2589251054"/>
                    </a:ext>
                  </a:extLst>
                </a:gridCol>
                <a:gridCol w="3078688">
                  <a:extLst>
                    <a:ext uri="{9D8B030D-6E8A-4147-A177-3AD203B41FA5}">
                      <a16:colId xmlns:a16="http://schemas.microsoft.com/office/drawing/2014/main" val="958233493"/>
                    </a:ext>
                  </a:extLst>
                </a:gridCol>
                <a:gridCol w="2747338">
                  <a:extLst>
                    <a:ext uri="{9D8B030D-6E8A-4147-A177-3AD203B41FA5}">
                      <a16:colId xmlns:a16="http://schemas.microsoft.com/office/drawing/2014/main" val="96361856"/>
                    </a:ext>
                  </a:extLst>
                </a:gridCol>
              </a:tblGrid>
              <a:tr h="777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b="1" cap="none" spc="0">
                          <a:solidFill>
                            <a:schemeClr val="tx1"/>
                          </a:solidFill>
                        </a:rPr>
                        <a:t>Modelo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b="1" cap="none" spc="0">
                          <a:solidFill>
                            <a:schemeClr val="tx1"/>
                          </a:solidFill>
                        </a:rPr>
                        <a:t>Força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b="1" cap="none" spc="0" dirty="0">
                          <a:solidFill>
                            <a:schemeClr val="tx1"/>
                          </a:solidFill>
                        </a:rPr>
                        <a:t>Fraqueza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b="1" cap="none" spc="0" dirty="0">
                          <a:solidFill>
                            <a:schemeClr val="tx1"/>
                          </a:solidFill>
                        </a:rPr>
                        <a:t>Estratégia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315888"/>
                  </a:ext>
                </a:extLst>
              </a:tr>
              <a:tr h="777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cap="none" spc="0">
                          <a:solidFill>
                            <a:schemeClr val="tx1"/>
                          </a:solidFill>
                        </a:rPr>
                        <a:t>GPT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cap="none" spc="0">
                          <a:solidFill>
                            <a:schemeClr val="tx1"/>
                          </a:solidFill>
                        </a:rPr>
                        <a:t>Equilíbrio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cap="none" spc="0">
                          <a:solidFill>
                            <a:schemeClr val="tx1"/>
                          </a:solidFill>
                        </a:rPr>
                        <a:t>Custo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cap="none" spc="0">
                          <a:solidFill>
                            <a:schemeClr val="tx1"/>
                          </a:solidFill>
                        </a:rPr>
                        <a:t>Plataforma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200024"/>
                  </a:ext>
                </a:extLst>
              </a:tr>
              <a:tr h="777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cap="none" spc="0">
                          <a:solidFill>
                            <a:schemeClr val="tx1"/>
                          </a:solidFill>
                        </a:rPr>
                        <a:t>Claude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cap="none" spc="0">
                          <a:solidFill>
                            <a:schemeClr val="tx1"/>
                          </a:solidFill>
                        </a:rPr>
                        <a:t>Raciocínio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cap="none" spc="0">
                          <a:solidFill>
                            <a:schemeClr val="tx1"/>
                          </a:solidFill>
                        </a:rPr>
                        <a:t>Menos popular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cap="none" spc="0">
                          <a:solidFill>
                            <a:schemeClr val="tx1"/>
                          </a:solidFill>
                        </a:rPr>
                        <a:t>Segurança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604022"/>
                  </a:ext>
                </a:extLst>
              </a:tr>
              <a:tr h="777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cap="none" spc="0">
                          <a:solidFill>
                            <a:schemeClr val="tx1"/>
                          </a:solidFill>
                        </a:rPr>
                        <a:t>Gemini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cap="none" spc="0">
                          <a:solidFill>
                            <a:schemeClr val="tx1"/>
                          </a:solidFill>
                        </a:rPr>
                        <a:t>Integração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cap="none" spc="0">
                          <a:solidFill>
                            <a:schemeClr val="tx1"/>
                          </a:solidFill>
                        </a:rPr>
                        <a:t>Inconsistência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cap="none" spc="0">
                          <a:solidFill>
                            <a:schemeClr val="tx1"/>
                          </a:solidFill>
                        </a:rPr>
                        <a:t>Ecossistema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905698"/>
                  </a:ext>
                </a:extLst>
              </a:tr>
              <a:tr h="777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cap="none" spc="0">
                          <a:solidFill>
                            <a:schemeClr val="tx1"/>
                          </a:solidFill>
                        </a:rPr>
                        <a:t>Llama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cap="none" spc="0">
                          <a:solidFill>
                            <a:schemeClr val="tx1"/>
                          </a:solidFill>
                        </a:rPr>
                        <a:t>Flexibilidade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cap="none" spc="0">
                          <a:solidFill>
                            <a:schemeClr val="tx1"/>
                          </a:solidFill>
                        </a:rPr>
                        <a:t>Performance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 cap="none" spc="0" dirty="0">
                          <a:solidFill>
                            <a:schemeClr val="tx1"/>
                          </a:solidFill>
                        </a:rPr>
                        <a:t>Open</a:t>
                      </a:r>
                    </a:p>
                  </a:txBody>
                  <a:tcPr marL="272544" marR="272544" marT="136273" marB="1577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724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550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C24F1-AD7D-564F-8EB7-073FA6A4E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Guerra, futuro e oportunidade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2D3162-C065-46B9-3DEB-BB3DE5E60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pt-BR" b="1" dirty="0"/>
              <a:t>A guerra real</a:t>
            </a:r>
          </a:p>
          <a:p>
            <a:pPr marL="0" indent="0">
              <a:buNone/>
            </a:pPr>
            <a:r>
              <a:rPr lang="pt-BR" b="1" dirty="0"/>
              <a:t> </a:t>
            </a:r>
          </a:p>
          <a:p>
            <a:r>
              <a:rPr lang="pt-BR" dirty="0"/>
              <a:t>Open </a:t>
            </a:r>
            <a:r>
              <a:rPr lang="pt-BR" dirty="0" err="1"/>
              <a:t>vs</a:t>
            </a:r>
            <a:r>
              <a:rPr lang="pt-BR" dirty="0"/>
              <a:t> fechado</a:t>
            </a:r>
          </a:p>
          <a:p>
            <a:r>
              <a:rPr lang="pt-BR" dirty="0"/>
              <a:t>Big Tech </a:t>
            </a:r>
            <a:r>
              <a:rPr lang="pt-BR" dirty="0" err="1"/>
              <a:t>vs</a:t>
            </a:r>
            <a:r>
              <a:rPr lang="pt-BR" dirty="0"/>
              <a:t> startups</a:t>
            </a:r>
          </a:p>
          <a:p>
            <a:r>
              <a:rPr lang="pt-BR" dirty="0"/>
              <a:t>Infra </a:t>
            </a:r>
            <a:r>
              <a:rPr lang="pt-BR" dirty="0" err="1"/>
              <a:t>vs</a:t>
            </a:r>
            <a:r>
              <a:rPr lang="pt-BR" dirty="0"/>
              <a:t> aplicação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💡 Insight forte:</a:t>
            </a:r>
          </a:p>
          <a:p>
            <a:r>
              <a:rPr lang="pt-BR" dirty="0"/>
              <a:t>“LLM não é produto final. É commodity em formação.”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4710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5D58B-C119-11B3-9A9C-0F0AF2F57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Guerra, futuro e oportunidade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060E0F-43C0-99B1-2D68-F0B995345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2. Tendências (20 min)</a:t>
            </a:r>
          </a:p>
          <a:p>
            <a:r>
              <a:rPr lang="pt-BR" dirty="0"/>
              <a:t>Agentes (autonomia &gt; chat)</a:t>
            </a:r>
          </a:p>
          <a:p>
            <a:r>
              <a:rPr lang="pt-BR" dirty="0"/>
              <a:t>Modelos menores e especializados</a:t>
            </a:r>
          </a:p>
          <a:p>
            <a:r>
              <a:rPr lang="pt-BR" dirty="0"/>
              <a:t>Integração com dados proprietários</a:t>
            </a:r>
          </a:p>
          <a:p>
            <a:r>
              <a:rPr lang="pt-BR" dirty="0"/>
              <a:t>Fine-</a:t>
            </a:r>
            <a:r>
              <a:rPr lang="pt-BR" dirty="0" err="1"/>
              <a:t>tuning</a:t>
            </a:r>
            <a:r>
              <a:rPr lang="pt-BR" dirty="0"/>
              <a:t> </a:t>
            </a:r>
            <a:r>
              <a:rPr lang="pt-BR" dirty="0" err="1"/>
              <a:t>vs</a:t>
            </a:r>
            <a:r>
              <a:rPr lang="pt-BR" dirty="0"/>
              <a:t> </a:t>
            </a:r>
            <a:r>
              <a:rPr lang="pt-BR" dirty="0" err="1"/>
              <a:t>prompting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💡 Verdade incômoda:</a:t>
            </a:r>
          </a:p>
          <a:p>
            <a:r>
              <a:rPr lang="pt-BR" dirty="0"/>
              <a:t>“Quem não tem dado próprio vai virar usuário — não player.”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5565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A4C973-CEA4-443F-BF6A-5E316B853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Guerra, futuro e oportunidade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263DEB-3217-2DDE-E2BB-96CE528B4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b="1" dirty="0"/>
              <a:t>3. O que isso significa pra carreira </a:t>
            </a:r>
          </a:p>
          <a:p>
            <a:pPr marL="0" indent="0">
              <a:buNone/>
            </a:pPr>
            <a:endParaRPr lang="pt-BR" b="1" dirty="0"/>
          </a:p>
          <a:p>
            <a:r>
              <a:rPr lang="pt-BR" dirty="0"/>
              <a:t>Direto, sem romantizar: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3 perfis que vão sobreviver:</a:t>
            </a:r>
          </a:p>
          <a:p>
            <a:pPr marL="0" indent="0">
              <a:buNone/>
            </a:pPr>
            <a:endParaRPr lang="pt-BR" b="1" dirty="0"/>
          </a:p>
          <a:p>
            <a:r>
              <a:rPr lang="pt-BR" b="1" dirty="0"/>
              <a:t>Construtores</a:t>
            </a:r>
            <a:endParaRPr lang="pt-BR" dirty="0"/>
          </a:p>
          <a:p>
            <a:pPr lvl="1"/>
            <a:r>
              <a:rPr lang="pt-BR" dirty="0"/>
              <a:t>Criam sistemas com </a:t>
            </a:r>
            <a:r>
              <a:rPr lang="pt-BR" dirty="0" err="1"/>
              <a:t>LLMs</a:t>
            </a:r>
            <a:endParaRPr lang="pt-BR" dirty="0"/>
          </a:p>
          <a:p>
            <a:r>
              <a:rPr lang="pt-BR" b="1" dirty="0"/>
              <a:t>Tradutores</a:t>
            </a:r>
            <a:endParaRPr lang="pt-BR" dirty="0"/>
          </a:p>
          <a:p>
            <a:pPr lvl="1"/>
            <a:r>
              <a:rPr lang="pt-BR" dirty="0"/>
              <a:t>Conectam negócio ↔ tecnologia</a:t>
            </a:r>
          </a:p>
          <a:p>
            <a:r>
              <a:rPr lang="pt-BR" b="1" dirty="0"/>
              <a:t>Donos de dados</a:t>
            </a:r>
            <a:endParaRPr lang="pt-BR" dirty="0"/>
          </a:p>
          <a:p>
            <a:pPr lvl="1"/>
            <a:r>
              <a:rPr lang="pt-BR" dirty="0"/>
              <a:t>Têm acesso exclusivo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💡 Fechamento:</a:t>
            </a:r>
          </a:p>
          <a:p>
            <a:r>
              <a:rPr lang="pt-BR" dirty="0"/>
              <a:t>“Aprender ferramenta é tática. Entender o jogo é estratégia.”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0122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D1FD51-1B46-1894-DF40-F7F764D44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Exemplo 1: IA vs. Modelos Clássicos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09CE7A6F-395A-4B57-A701-598C9A596E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80095"/>
            <a:ext cx="6780700" cy="369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090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82CE1-BF7C-19D8-EEF4-FEC3F20B7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2: Agente de Saúde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CCF0FF06-D0BF-E78D-8ED2-95E816B15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28202"/>
            <a:ext cx="10515600" cy="274618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4E50EC6-0A5C-F51A-5351-5A2743B0CA40}"/>
              </a:ext>
            </a:extLst>
          </p:cNvPr>
          <p:cNvSpPr/>
          <p:nvPr/>
        </p:nvSpPr>
        <p:spPr>
          <a:xfrm>
            <a:off x="7974419" y="3795823"/>
            <a:ext cx="871869" cy="297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554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F90D1-0CFD-832E-F881-A41B18752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2: Agente de Saúde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B3CCB4C-E14C-D87D-C45C-558BB3755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0186" y="1690688"/>
            <a:ext cx="7953154" cy="490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163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</TotalTime>
  <Words>784</Words>
  <Application>Microsoft Macintosh PowerPoint</Application>
  <PresentationFormat>Widescreen</PresentationFormat>
  <Paragraphs>161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Tema do Office</vt:lpstr>
      <vt:lpstr>O modelo de negócios  dos LLM </vt:lpstr>
      <vt:lpstr>Plano de Voo</vt:lpstr>
      <vt:lpstr>Ementa  Resumida  do Curso</vt:lpstr>
      <vt:lpstr>O que veremos hoje...</vt:lpstr>
      <vt:lpstr>Modelo como Serviço</vt:lpstr>
      <vt:lpstr>Modelo como Serviço</vt:lpstr>
      <vt:lpstr>Modelo  como Serviço</vt:lpstr>
      <vt:lpstr>O que é um LLM de verdade</vt:lpstr>
      <vt:lpstr>Cadeia de Valor dos LLMs</vt:lpstr>
      <vt:lpstr>Os principais players</vt:lpstr>
      <vt:lpstr>Os principais players do mercado</vt:lpstr>
      <vt:lpstr>Os principais players do mercado</vt:lpstr>
      <vt:lpstr>Os principais players do mercado</vt:lpstr>
      <vt:lpstr>Os principais players do mercado</vt:lpstr>
      <vt:lpstr>Guerra, futuro e oportunidade</vt:lpstr>
      <vt:lpstr>Guerra, futuro e oportunidade</vt:lpstr>
      <vt:lpstr>Guerra, futuro e oportunidade</vt:lpstr>
      <vt:lpstr>Exemplo 1: IA vs. Modelos Clássicos</vt:lpstr>
      <vt:lpstr>Exemplo 2: Agente de Saúde</vt:lpstr>
      <vt:lpstr>Exemplo 2: Agente de Saúde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vitorwilher@analisemacro.com.br</dc:creator>
  <cp:lastModifiedBy>vitorwilher@analisemacro.com.br</cp:lastModifiedBy>
  <cp:revision>9</cp:revision>
  <dcterms:created xsi:type="dcterms:W3CDTF">2025-08-21T13:49:34Z</dcterms:created>
  <dcterms:modified xsi:type="dcterms:W3CDTF">2026-04-07T20:40:24Z</dcterms:modified>
</cp:coreProperties>
</file>