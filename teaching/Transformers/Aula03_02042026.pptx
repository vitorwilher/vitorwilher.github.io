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6" r:id="rId5"/>
    <p:sldId id="358" r:id="rId6"/>
    <p:sldId id="359" r:id="rId7"/>
    <p:sldId id="360" r:id="rId8"/>
    <p:sldId id="361" r:id="rId9"/>
    <p:sldId id="362" r:id="rId10"/>
    <p:sldId id="363" r:id="rId11"/>
    <p:sldId id="367" r:id="rId12"/>
    <p:sldId id="368" r:id="rId13"/>
    <p:sldId id="372" r:id="rId14"/>
    <p:sldId id="369" r:id="rId15"/>
    <p:sldId id="370" r:id="rId16"/>
    <p:sldId id="371" r:id="rId17"/>
    <p:sldId id="387" r:id="rId18"/>
    <p:sldId id="373" r:id="rId19"/>
    <p:sldId id="374" r:id="rId20"/>
    <p:sldId id="375" r:id="rId21"/>
    <p:sldId id="376" r:id="rId22"/>
    <p:sldId id="377" r:id="rId23"/>
    <p:sldId id="378" r:id="rId24"/>
    <p:sldId id="379" r:id="rId25"/>
    <p:sldId id="380" r:id="rId26"/>
    <p:sldId id="381" r:id="rId27"/>
    <p:sldId id="382" r:id="rId28"/>
    <p:sldId id="341" r:id="rId29"/>
    <p:sldId id="364" r:id="rId30"/>
    <p:sldId id="365" r:id="rId31"/>
    <p:sldId id="366" r:id="rId32"/>
    <p:sldId id="383" r:id="rId33"/>
    <p:sldId id="384" r:id="rId34"/>
    <p:sldId id="385" r:id="rId35"/>
    <p:sldId id="386" r:id="rId36"/>
    <p:sldId id="388" r:id="rId37"/>
    <p:sldId id="342" r:id="rId38"/>
    <p:sldId id="343" r:id="rId39"/>
    <p:sldId id="344" r:id="rId40"/>
    <p:sldId id="345" r:id="rId41"/>
    <p:sldId id="346" r:id="rId42"/>
    <p:sldId id="347" r:id="rId43"/>
    <p:sldId id="348" r:id="rId44"/>
    <p:sldId id="349" r:id="rId45"/>
    <p:sldId id="350" r:id="rId46"/>
    <p:sldId id="351" r:id="rId47"/>
    <p:sldId id="352" r:id="rId48"/>
    <p:sldId id="353" r:id="rId49"/>
    <p:sldId id="354" r:id="rId50"/>
    <p:sldId id="355" r:id="rId51"/>
    <p:sldId id="356" r:id="rId52"/>
    <p:sldId id="357" r:id="rId5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23"/>
    <p:restoredTop sz="94641"/>
  </p:normalViewPr>
  <p:slideViewPr>
    <p:cSldViewPr snapToGrid="0">
      <p:cViewPr varScale="1">
        <p:scale>
          <a:sx n="111" d="100"/>
          <a:sy n="111" d="100"/>
        </p:scale>
        <p:origin x="248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09DA14-B8B5-4D25-8E31-561E7DF419A9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F422A0F-674C-4EFC-9F4E-3EAFA40D663D}">
      <dgm:prSet/>
      <dgm:spPr/>
      <dgm:t>
        <a:bodyPr/>
        <a:lstStyle/>
        <a:p>
          <a:r>
            <a:rPr lang="pt-BR" dirty="0"/>
            <a:t>Detalhar a arquitetura </a:t>
          </a:r>
          <a:r>
            <a:rPr lang="pt-BR" i="1" dirty="0"/>
            <a:t>Transformer</a:t>
          </a:r>
          <a:r>
            <a:rPr lang="pt-BR" dirty="0"/>
            <a:t> e os </a:t>
          </a:r>
          <a:r>
            <a:rPr lang="pt-BR" i="1" dirty="0"/>
            <a:t>LLMs</a:t>
          </a:r>
          <a:r>
            <a:rPr lang="pt-BR" dirty="0"/>
            <a:t> — a tecnologia específica que impulsionou a revolução da </a:t>
          </a:r>
          <a:r>
            <a:rPr lang="pt-BR" b="1" dirty="0"/>
            <a:t>IA generativa</a:t>
          </a:r>
          <a:r>
            <a:rPr lang="pt-BR" dirty="0"/>
            <a:t> em linguagem. </a:t>
          </a:r>
          <a:endParaRPr lang="en-US" dirty="0"/>
        </a:p>
      </dgm:t>
    </dgm:pt>
    <dgm:pt modelId="{8E93E294-7E31-4596-A1A5-837C4FB949BF}" type="parTrans" cxnId="{2B4AC95A-98DB-4CAB-916D-85D969764C8A}">
      <dgm:prSet/>
      <dgm:spPr/>
      <dgm:t>
        <a:bodyPr/>
        <a:lstStyle/>
        <a:p>
          <a:endParaRPr lang="en-US"/>
        </a:p>
      </dgm:t>
    </dgm:pt>
    <dgm:pt modelId="{90A102C9-B3AA-49CF-99B2-D0D03502D22D}" type="sibTrans" cxnId="{2B4AC95A-98DB-4CAB-916D-85D969764C8A}">
      <dgm:prSet/>
      <dgm:spPr/>
      <dgm:t>
        <a:bodyPr/>
        <a:lstStyle/>
        <a:p>
          <a:endParaRPr lang="en-US"/>
        </a:p>
      </dgm:t>
    </dgm:pt>
    <dgm:pt modelId="{83CAB272-A112-445C-8169-F4AB715BFAC6}">
      <dgm:prSet/>
      <dgm:spPr/>
      <dgm:t>
        <a:bodyPr/>
        <a:lstStyle/>
        <a:p>
          <a:r>
            <a:rPr lang="pt-BR" i="1" dirty="0"/>
            <a:t>Compreender como esses modelos funcionam é essencial para usá-los estrategicamente.</a:t>
          </a:r>
          <a:endParaRPr lang="en-US" dirty="0"/>
        </a:p>
      </dgm:t>
    </dgm:pt>
    <dgm:pt modelId="{09644CFC-3A7F-48FB-B458-28A643D3427E}" type="parTrans" cxnId="{5AD48B22-D462-4C68-837B-A369A815B2AA}">
      <dgm:prSet/>
      <dgm:spPr/>
      <dgm:t>
        <a:bodyPr/>
        <a:lstStyle/>
        <a:p>
          <a:endParaRPr lang="en-US"/>
        </a:p>
      </dgm:t>
    </dgm:pt>
    <dgm:pt modelId="{BEF874AA-8415-4BBF-9CC6-1318279C9DC1}" type="sibTrans" cxnId="{5AD48B22-D462-4C68-837B-A369A815B2AA}">
      <dgm:prSet/>
      <dgm:spPr/>
      <dgm:t>
        <a:bodyPr/>
        <a:lstStyle/>
        <a:p>
          <a:endParaRPr lang="en-US"/>
        </a:p>
      </dgm:t>
    </dgm:pt>
    <dgm:pt modelId="{A73CF2EA-659E-F940-A030-1081F7905B18}" type="pres">
      <dgm:prSet presAssocID="{1A09DA14-B8B5-4D25-8E31-561E7DF419A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A80C5A-7E1A-EF44-AC5A-B52A167F8334}" type="pres">
      <dgm:prSet presAssocID="{6F422A0F-674C-4EFC-9F4E-3EAFA40D663D}" presName="hierRoot1" presStyleCnt="0"/>
      <dgm:spPr/>
    </dgm:pt>
    <dgm:pt modelId="{9FCC538E-12FC-1544-A3BF-FA3857F6F743}" type="pres">
      <dgm:prSet presAssocID="{6F422A0F-674C-4EFC-9F4E-3EAFA40D663D}" presName="composite" presStyleCnt="0"/>
      <dgm:spPr/>
    </dgm:pt>
    <dgm:pt modelId="{6282D4D8-A47B-5A4A-ADF4-767FE3853C5F}" type="pres">
      <dgm:prSet presAssocID="{6F422A0F-674C-4EFC-9F4E-3EAFA40D663D}" presName="background" presStyleLbl="node0" presStyleIdx="0" presStyleCnt="2"/>
      <dgm:spPr/>
    </dgm:pt>
    <dgm:pt modelId="{0B2A5440-DD07-0A4B-8D63-2AD0E8C4B613}" type="pres">
      <dgm:prSet presAssocID="{6F422A0F-674C-4EFC-9F4E-3EAFA40D663D}" presName="text" presStyleLbl="fgAcc0" presStyleIdx="0" presStyleCnt="2">
        <dgm:presLayoutVars>
          <dgm:chPref val="3"/>
        </dgm:presLayoutVars>
      </dgm:prSet>
      <dgm:spPr/>
    </dgm:pt>
    <dgm:pt modelId="{54313D61-D2F5-5E4B-BADF-3A68A2C5AE6D}" type="pres">
      <dgm:prSet presAssocID="{6F422A0F-674C-4EFC-9F4E-3EAFA40D663D}" presName="hierChild2" presStyleCnt="0"/>
      <dgm:spPr/>
    </dgm:pt>
    <dgm:pt modelId="{BAC29171-3ADD-F745-B4C2-1CDC82A90AE3}" type="pres">
      <dgm:prSet presAssocID="{83CAB272-A112-445C-8169-F4AB715BFAC6}" presName="hierRoot1" presStyleCnt="0"/>
      <dgm:spPr/>
    </dgm:pt>
    <dgm:pt modelId="{6DBC51D4-F426-8D46-BDE8-7B2563CF9B78}" type="pres">
      <dgm:prSet presAssocID="{83CAB272-A112-445C-8169-F4AB715BFAC6}" presName="composite" presStyleCnt="0"/>
      <dgm:spPr/>
    </dgm:pt>
    <dgm:pt modelId="{33FE4CCF-4553-1143-802A-DC1F8A5B6ACE}" type="pres">
      <dgm:prSet presAssocID="{83CAB272-A112-445C-8169-F4AB715BFAC6}" presName="background" presStyleLbl="node0" presStyleIdx="1" presStyleCnt="2"/>
      <dgm:spPr/>
    </dgm:pt>
    <dgm:pt modelId="{2BCB6344-2AD7-3845-906F-5631E447BBF7}" type="pres">
      <dgm:prSet presAssocID="{83CAB272-A112-445C-8169-F4AB715BFAC6}" presName="text" presStyleLbl="fgAcc0" presStyleIdx="1" presStyleCnt="2">
        <dgm:presLayoutVars>
          <dgm:chPref val="3"/>
        </dgm:presLayoutVars>
      </dgm:prSet>
      <dgm:spPr/>
    </dgm:pt>
    <dgm:pt modelId="{C9063952-117D-574F-8BA5-09C5F69CA706}" type="pres">
      <dgm:prSet presAssocID="{83CAB272-A112-445C-8169-F4AB715BFAC6}" presName="hierChild2" presStyleCnt="0"/>
      <dgm:spPr/>
    </dgm:pt>
  </dgm:ptLst>
  <dgm:cxnLst>
    <dgm:cxn modelId="{5AD48B22-D462-4C68-837B-A369A815B2AA}" srcId="{1A09DA14-B8B5-4D25-8E31-561E7DF419A9}" destId="{83CAB272-A112-445C-8169-F4AB715BFAC6}" srcOrd="1" destOrd="0" parTransId="{09644CFC-3A7F-48FB-B458-28A643D3427E}" sibTransId="{BEF874AA-8415-4BBF-9CC6-1318279C9DC1}"/>
    <dgm:cxn modelId="{2B4AC95A-98DB-4CAB-916D-85D969764C8A}" srcId="{1A09DA14-B8B5-4D25-8E31-561E7DF419A9}" destId="{6F422A0F-674C-4EFC-9F4E-3EAFA40D663D}" srcOrd="0" destOrd="0" parTransId="{8E93E294-7E31-4596-A1A5-837C4FB949BF}" sibTransId="{90A102C9-B3AA-49CF-99B2-D0D03502D22D}"/>
    <dgm:cxn modelId="{F97297C7-9F3F-124F-84BE-FF00E6F5EDD9}" type="presOf" srcId="{83CAB272-A112-445C-8169-F4AB715BFAC6}" destId="{2BCB6344-2AD7-3845-906F-5631E447BBF7}" srcOrd="0" destOrd="0" presId="urn:microsoft.com/office/officeart/2005/8/layout/hierarchy1"/>
    <dgm:cxn modelId="{4AB5CCDA-692B-2640-A73C-891F1E6256A8}" type="presOf" srcId="{1A09DA14-B8B5-4D25-8E31-561E7DF419A9}" destId="{A73CF2EA-659E-F940-A030-1081F7905B18}" srcOrd="0" destOrd="0" presId="urn:microsoft.com/office/officeart/2005/8/layout/hierarchy1"/>
    <dgm:cxn modelId="{3B7EC8FA-02B2-9B40-940A-B6E5F7B75B82}" type="presOf" srcId="{6F422A0F-674C-4EFC-9F4E-3EAFA40D663D}" destId="{0B2A5440-DD07-0A4B-8D63-2AD0E8C4B613}" srcOrd="0" destOrd="0" presId="urn:microsoft.com/office/officeart/2005/8/layout/hierarchy1"/>
    <dgm:cxn modelId="{E14BA01A-C74F-9D4B-BE2D-2C80B1C1B250}" type="presParOf" srcId="{A73CF2EA-659E-F940-A030-1081F7905B18}" destId="{7EA80C5A-7E1A-EF44-AC5A-B52A167F8334}" srcOrd="0" destOrd="0" presId="urn:microsoft.com/office/officeart/2005/8/layout/hierarchy1"/>
    <dgm:cxn modelId="{A2482145-F4AB-0547-8874-D24C0CD7A62F}" type="presParOf" srcId="{7EA80C5A-7E1A-EF44-AC5A-B52A167F8334}" destId="{9FCC538E-12FC-1544-A3BF-FA3857F6F743}" srcOrd="0" destOrd="0" presId="urn:microsoft.com/office/officeart/2005/8/layout/hierarchy1"/>
    <dgm:cxn modelId="{5F325FC7-DCA3-5748-877F-F6CE34E23D3A}" type="presParOf" srcId="{9FCC538E-12FC-1544-A3BF-FA3857F6F743}" destId="{6282D4D8-A47B-5A4A-ADF4-767FE3853C5F}" srcOrd="0" destOrd="0" presId="urn:microsoft.com/office/officeart/2005/8/layout/hierarchy1"/>
    <dgm:cxn modelId="{8809148C-AE14-D548-B79F-042B92170314}" type="presParOf" srcId="{9FCC538E-12FC-1544-A3BF-FA3857F6F743}" destId="{0B2A5440-DD07-0A4B-8D63-2AD0E8C4B613}" srcOrd="1" destOrd="0" presId="urn:microsoft.com/office/officeart/2005/8/layout/hierarchy1"/>
    <dgm:cxn modelId="{1D5733A8-A08D-7E41-BBA1-4881DD599C17}" type="presParOf" srcId="{7EA80C5A-7E1A-EF44-AC5A-B52A167F8334}" destId="{54313D61-D2F5-5E4B-BADF-3A68A2C5AE6D}" srcOrd="1" destOrd="0" presId="urn:microsoft.com/office/officeart/2005/8/layout/hierarchy1"/>
    <dgm:cxn modelId="{9CC81FB9-1EB4-9A47-9262-92281863DE7D}" type="presParOf" srcId="{A73CF2EA-659E-F940-A030-1081F7905B18}" destId="{BAC29171-3ADD-F745-B4C2-1CDC82A90AE3}" srcOrd="1" destOrd="0" presId="urn:microsoft.com/office/officeart/2005/8/layout/hierarchy1"/>
    <dgm:cxn modelId="{490071BA-A22B-3947-B893-421C2FA45ACD}" type="presParOf" srcId="{BAC29171-3ADD-F745-B4C2-1CDC82A90AE3}" destId="{6DBC51D4-F426-8D46-BDE8-7B2563CF9B78}" srcOrd="0" destOrd="0" presId="urn:microsoft.com/office/officeart/2005/8/layout/hierarchy1"/>
    <dgm:cxn modelId="{774C9914-155A-9E4E-826D-C6F418F30697}" type="presParOf" srcId="{6DBC51D4-F426-8D46-BDE8-7B2563CF9B78}" destId="{33FE4CCF-4553-1143-802A-DC1F8A5B6ACE}" srcOrd="0" destOrd="0" presId="urn:microsoft.com/office/officeart/2005/8/layout/hierarchy1"/>
    <dgm:cxn modelId="{CAC15DB9-5502-714C-92EB-1DB3AFF45044}" type="presParOf" srcId="{6DBC51D4-F426-8D46-BDE8-7B2563CF9B78}" destId="{2BCB6344-2AD7-3845-906F-5631E447BBF7}" srcOrd="1" destOrd="0" presId="urn:microsoft.com/office/officeart/2005/8/layout/hierarchy1"/>
    <dgm:cxn modelId="{809AE12A-EDC4-1745-8ED3-48ED3C0817DD}" type="presParOf" srcId="{BAC29171-3ADD-F745-B4C2-1CDC82A90AE3}" destId="{C9063952-117D-574F-8BA5-09C5F69CA70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B8E8BF-7BCE-4F29-A091-6115B644471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7DECF74-DE78-4547-97B0-00490D01C848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pt-BR" dirty="0"/>
            <a:t>A arquitetura Transformer: atenção, tokens e embeddings (sem matemática);</a:t>
          </a:r>
          <a:endParaRPr lang="en-US" dirty="0"/>
        </a:p>
      </dgm:t>
    </dgm:pt>
    <dgm:pt modelId="{7CE5872F-AF99-4AAF-8D56-341FD239CA9C}" type="parTrans" cxnId="{B86FC26E-8029-4271-A623-4F0178B857DC}">
      <dgm:prSet/>
      <dgm:spPr/>
      <dgm:t>
        <a:bodyPr/>
        <a:lstStyle/>
        <a:p>
          <a:endParaRPr lang="en-US"/>
        </a:p>
      </dgm:t>
    </dgm:pt>
    <dgm:pt modelId="{F0D89DFC-453D-494A-8E4D-AE273E67774D}" type="sibTrans" cxnId="{B86FC26E-8029-4271-A623-4F0178B857DC}">
      <dgm:prSet/>
      <dgm:spPr/>
      <dgm:t>
        <a:bodyPr/>
        <a:lstStyle/>
        <a:p>
          <a:endParaRPr lang="en-US" dirty="0"/>
        </a:p>
      </dgm:t>
    </dgm:pt>
    <dgm:pt modelId="{531AE1A7-421E-4270-B0A5-A74D32784AC2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pt-BR" dirty="0"/>
            <a:t>Como LLMs são treinados: dados, RLHF e alinhamento com intenção humana </a:t>
          </a:r>
          <a:endParaRPr lang="en-US" dirty="0"/>
        </a:p>
      </dgm:t>
    </dgm:pt>
    <dgm:pt modelId="{A8B4636D-46E1-4BAB-86AB-E2D1D0822A41}" type="parTrans" cxnId="{E811B065-F831-46A6-B86B-BF125402789B}">
      <dgm:prSet/>
      <dgm:spPr/>
      <dgm:t>
        <a:bodyPr/>
        <a:lstStyle/>
        <a:p>
          <a:endParaRPr lang="en-US"/>
        </a:p>
      </dgm:t>
    </dgm:pt>
    <dgm:pt modelId="{3F3EB0F2-5713-4803-A9A8-FD72DA11B221}" type="sibTrans" cxnId="{E811B065-F831-46A6-B86B-BF125402789B}">
      <dgm:prSet/>
      <dgm:spPr/>
      <dgm:t>
        <a:bodyPr/>
        <a:lstStyle/>
        <a:p>
          <a:endParaRPr lang="en-US" dirty="0"/>
        </a:p>
      </dgm:t>
    </dgm:pt>
    <dgm:pt modelId="{FF28D71F-E9E1-4EAB-AD1D-4F2E3F8F9FB7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pt-BR" dirty="0"/>
            <a:t>Capacidades emergentes: raciocínio, geração de código e multimodalidade;</a:t>
          </a:r>
          <a:endParaRPr lang="en-US" dirty="0"/>
        </a:p>
      </dgm:t>
    </dgm:pt>
    <dgm:pt modelId="{34645C7E-722A-4648-B39E-9EEF8B95B05D}" type="parTrans" cxnId="{B4FE4FE8-7159-4203-A534-FF9C3FBB4138}">
      <dgm:prSet/>
      <dgm:spPr/>
      <dgm:t>
        <a:bodyPr/>
        <a:lstStyle/>
        <a:p>
          <a:endParaRPr lang="en-US"/>
        </a:p>
      </dgm:t>
    </dgm:pt>
    <dgm:pt modelId="{3DD570B7-D00F-4DD0-BEEC-1F1D71AA3540}" type="sibTrans" cxnId="{B4FE4FE8-7159-4203-A534-FF9C3FBB4138}">
      <dgm:prSet/>
      <dgm:spPr/>
      <dgm:t>
        <a:bodyPr/>
        <a:lstStyle/>
        <a:p>
          <a:endParaRPr lang="en-US" dirty="0"/>
        </a:p>
      </dgm:t>
    </dgm:pt>
    <dgm:pt modelId="{AD10B42A-D641-4E3E-B5D6-A33E1EB6F4C5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pt-BR" dirty="0"/>
            <a:t>Contexto e memória: limitações de janela de contexto e estratégias de contorno;</a:t>
          </a:r>
          <a:endParaRPr lang="en-US" dirty="0"/>
        </a:p>
      </dgm:t>
    </dgm:pt>
    <dgm:pt modelId="{087F7D52-102E-4BC9-8C3B-FCA5733F5710}" type="parTrans" cxnId="{BD11DA04-595F-40CC-BD56-059FF1F4F941}">
      <dgm:prSet/>
      <dgm:spPr/>
      <dgm:t>
        <a:bodyPr/>
        <a:lstStyle/>
        <a:p>
          <a:endParaRPr lang="en-US"/>
        </a:p>
      </dgm:t>
    </dgm:pt>
    <dgm:pt modelId="{9849F652-20BE-45F3-9EE2-1FB314779336}" type="sibTrans" cxnId="{BD11DA04-595F-40CC-BD56-059FF1F4F941}">
      <dgm:prSet/>
      <dgm:spPr/>
      <dgm:t>
        <a:bodyPr/>
        <a:lstStyle/>
        <a:p>
          <a:endParaRPr lang="en-US" dirty="0"/>
        </a:p>
      </dgm:t>
    </dgm:pt>
    <dgm:pt modelId="{1353DD71-BF28-4971-B111-F2AA8C8D5D00}">
      <dgm:prSet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BR" dirty="0"/>
            <a:t>Principais LLMs do mercado: GPT, Claude, Gemini, Llama — diferenças e posicionamento.</a:t>
          </a:r>
          <a:endParaRPr lang="en-US" dirty="0"/>
        </a:p>
      </dgm:t>
    </dgm:pt>
    <dgm:pt modelId="{56D769CD-2CC1-4BFE-AD82-AD2D87261EAF}" type="parTrans" cxnId="{7E6776B2-A752-4F22-A014-474443F006F7}">
      <dgm:prSet/>
      <dgm:spPr/>
      <dgm:t>
        <a:bodyPr/>
        <a:lstStyle/>
        <a:p>
          <a:endParaRPr lang="en-US"/>
        </a:p>
      </dgm:t>
    </dgm:pt>
    <dgm:pt modelId="{33E5A2C2-7A03-4813-BC6B-6162CB438DF5}" type="sibTrans" cxnId="{7E6776B2-A752-4F22-A014-474443F006F7}">
      <dgm:prSet/>
      <dgm:spPr/>
      <dgm:t>
        <a:bodyPr/>
        <a:lstStyle/>
        <a:p>
          <a:endParaRPr lang="en-US"/>
        </a:p>
      </dgm:t>
    </dgm:pt>
    <dgm:pt modelId="{D6F434E3-F383-4185-A391-B6B2DAA5E3FA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pt-BR" dirty="0"/>
            <a:t>Panorama Geral da IA: cronologia e oportunidades;</a:t>
          </a:r>
          <a:endParaRPr lang="en-US" dirty="0"/>
        </a:p>
      </dgm:t>
    </dgm:pt>
    <dgm:pt modelId="{65499A69-AF54-492E-83B3-D0862365CBC2}" type="sibTrans" cxnId="{3576EC09-2FF2-4760-AEF4-AC61799A3830}">
      <dgm:prSet/>
      <dgm:spPr/>
      <dgm:t>
        <a:bodyPr/>
        <a:lstStyle/>
        <a:p>
          <a:endParaRPr lang="en-US" dirty="0"/>
        </a:p>
      </dgm:t>
    </dgm:pt>
    <dgm:pt modelId="{8489D082-BAD0-40B5-B8D4-1D78DDA8F36E}" type="parTrans" cxnId="{3576EC09-2FF2-4760-AEF4-AC61799A3830}">
      <dgm:prSet/>
      <dgm:spPr/>
      <dgm:t>
        <a:bodyPr/>
        <a:lstStyle/>
        <a:p>
          <a:endParaRPr lang="en-US"/>
        </a:p>
      </dgm:t>
    </dgm:pt>
    <dgm:pt modelId="{45ED9AD8-FB4B-714A-9377-EC5A5CD9907A}" type="pres">
      <dgm:prSet presAssocID="{1AB8E8BF-7BCE-4F29-A091-6115B644471B}" presName="Name0" presStyleCnt="0">
        <dgm:presLayoutVars>
          <dgm:dir/>
          <dgm:resizeHandles val="exact"/>
        </dgm:presLayoutVars>
      </dgm:prSet>
      <dgm:spPr/>
    </dgm:pt>
    <dgm:pt modelId="{ABE33520-FAC6-624A-8EFD-762B97D1F16D}" type="pres">
      <dgm:prSet presAssocID="{D6F434E3-F383-4185-A391-B6B2DAA5E3FA}" presName="node" presStyleLbl="node1" presStyleIdx="0" presStyleCnt="6">
        <dgm:presLayoutVars>
          <dgm:bulletEnabled val="1"/>
        </dgm:presLayoutVars>
      </dgm:prSet>
      <dgm:spPr/>
    </dgm:pt>
    <dgm:pt modelId="{1894825B-2A0B-9747-BFE7-2C65B1FCB746}" type="pres">
      <dgm:prSet presAssocID="{65499A69-AF54-492E-83B3-D0862365CBC2}" presName="sibTrans" presStyleLbl="sibTrans1D1" presStyleIdx="0" presStyleCnt="5"/>
      <dgm:spPr/>
    </dgm:pt>
    <dgm:pt modelId="{0FBAD16B-144A-2241-8747-723D772A0D5B}" type="pres">
      <dgm:prSet presAssocID="{65499A69-AF54-492E-83B3-D0862365CBC2}" presName="connectorText" presStyleLbl="sibTrans1D1" presStyleIdx="0" presStyleCnt="5"/>
      <dgm:spPr/>
    </dgm:pt>
    <dgm:pt modelId="{F67AFCCA-7DE9-1149-97A6-0DC731259B28}" type="pres">
      <dgm:prSet presAssocID="{47DECF74-DE78-4547-97B0-00490D01C848}" presName="node" presStyleLbl="node1" presStyleIdx="1" presStyleCnt="6">
        <dgm:presLayoutVars>
          <dgm:bulletEnabled val="1"/>
        </dgm:presLayoutVars>
      </dgm:prSet>
      <dgm:spPr/>
    </dgm:pt>
    <dgm:pt modelId="{FE56766E-540A-4D41-8E5C-6DAB1B1736B3}" type="pres">
      <dgm:prSet presAssocID="{F0D89DFC-453D-494A-8E4D-AE273E67774D}" presName="sibTrans" presStyleLbl="sibTrans1D1" presStyleIdx="1" presStyleCnt="5"/>
      <dgm:spPr/>
    </dgm:pt>
    <dgm:pt modelId="{847DB5AA-BC2C-5D47-B4A4-D70FE7C31D4A}" type="pres">
      <dgm:prSet presAssocID="{F0D89DFC-453D-494A-8E4D-AE273E67774D}" presName="connectorText" presStyleLbl="sibTrans1D1" presStyleIdx="1" presStyleCnt="5"/>
      <dgm:spPr/>
    </dgm:pt>
    <dgm:pt modelId="{316558A3-E6D8-4945-B224-3186409311BA}" type="pres">
      <dgm:prSet presAssocID="{531AE1A7-421E-4270-B0A5-A74D32784AC2}" presName="node" presStyleLbl="node1" presStyleIdx="2" presStyleCnt="6">
        <dgm:presLayoutVars>
          <dgm:bulletEnabled val="1"/>
        </dgm:presLayoutVars>
      </dgm:prSet>
      <dgm:spPr/>
    </dgm:pt>
    <dgm:pt modelId="{DEBAEBA5-938F-D34E-BECA-99CC9336D4EF}" type="pres">
      <dgm:prSet presAssocID="{3F3EB0F2-5713-4803-A9A8-FD72DA11B221}" presName="sibTrans" presStyleLbl="sibTrans1D1" presStyleIdx="2" presStyleCnt="5"/>
      <dgm:spPr/>
    </dgm:pt>
    <dgm:pt modelId="{7FEE14F7-7878-B446-A1DE-83365BE77967}" type="pres">
      <dgm:prSet presAssocID="{3F3EB0F2-5713-4803-A9A8-FD72DA11B221}" presName="connectorText" presStyleLbl="sibTrans1D1" presStyleIdx="2" presStyleCnt="5"/>
      <dgm:spPr/>
    </dgm:pt>
    <dgm:pt modelId="{9A80917B-3BCD-6B43-99A7-F8A0D3859D21}" type="pres">
      <dgm:prSet presAssocID="{FF28D71F-E9E1-4EAB-AD1D-4F2E3F8F9FB7}" presName="node" presStyleLbl="node1" presStyleIdx="3" presStyleCnt="6">
        <dgm:presLayoutVars>
          <dgm:bulletEnabled val="1"/>
        </dgm:presLayoutVars>
      </dgm:prSet>
      <dgm:spPr/>
    </dgm:pt>
    <dgm:pt modelId="{40A79C42-92A4-8344-A47B-A04FD4491D3C}" type="pres">
      <dgm:prSet presAssocID="{3DD570B7-D00F-4DD0-BEEC-1F1D71AA3540}" presName="sibTrans" presStyleLbl="sibTrans1D1" presStyleIdx="3" presStyleCnt="5"/>
      <dgm:spPr/>
    </dgm:pt>
    <dgm:pt modelId="{18A204A1-80F5-EA4B-9721-B8BDF45CCAFB}" type="pres">
      <dgm:prSet presAssocID="{3DD570B7-D00F-4DD0-BEEC-1F1D71AA3540}" presName="connectorText" presStyleLbl="sibTrans1D1" presStyleIdx="3" presStyleCnt="5"/>
      <dgm:spPr/>
    </dgm:pt>
    <dgm:pt modelId="{FCC39425-6452-0242-92A6-FA1C8A57E0C5}" type="pres">
      <dgm:prSet presAssocID="{AD10B42A-D641-4E3E-B5D6-A33E1EB6F4C5}" presName="node" presStyleLbl="node1" presStyleIdx="4" presStyleCnt="6">
        <dgm:presLayoutVars>
          <dgm:bulletEnabled val="1"/>
        </dgm:presLayoutVars>
      </dgm:prSet>
      <dgm:spPr/>
    </dgm:pt>
    <dgm:pt modelId="{CEAFC0A6-A1FB-584C-B5AF-911652788DA3}" type="pres">
      <dgm:prSet presAssocID="{9849F652-20BE-45F3-9EE2-1FB314779336}" presName="sibTrans" presStyleLbl="sibTrans1D1" presStyleIdx="4" presStyleCnt="5"/>
      <dgm:spPr/>
    </dgm:pt>
    <dgm:pt modelId="{D83B74C2-AABA-1F48-8926-2BF27961FC0B}" type="pres">
      <dgm:prSet presAssocID="{9849F652-20BE-45F3-9EE2-1FB314779336}" presName="connectorText" presStyleLbl="sibTrans1D1" presStyleIdx="4" presStyleCnt="5"/>
      <dgm:spPr/>
    </dgm:pt>
    <dgm:pt modelId="{BB29C139-C690-9843-8556-11F8ED642E05}" type="pres">
      <dgm:prSet presAssocID="{1353DD71-BF28-4971-B111-F2AA8C8D5D00}" presName="node" presStyleLbl="node1" presStyleIdx="5" presStyleCnt="6">
        <dgm:presLayoutVars>
          <dgm:bulletEnabled val="1"/>
        </dgm:presLayoutVars>
      </dgm:prSet>
      <dgm:spPr/>
    </dgm:pt>
  </dgm:ptLst>
  <dgm:cxnLst>
    <dgm:cxn modelId="{BD11DA04-595F-40CC-BD56-059FF1F4F941}" srcId="{1AB8E8BF-7BCE-4F29-A091-6115B644471B}" destId="{AD10B42A-D641-4E3E-B5D6-A33E1EB6F4C5}" srcOrd="4" destOrd="0" parTransId="{087F7D52-102E-4BC9-8C3B-FCA5733F5710}" sibTransId="{9849F652-20BE-45F3-9EE2-1FB314779336}"/>
    <dgm:cxn modelId="{3576EC09-2FF2-4760-AEF4-AC61799A3830}" srcId="{1AB8E8BF-7BCE-4F29-A091-6115B644471B}" destId="{D6F434E3-F383-4185-A391-B6B2DAA5E3FA}" srcOrd="0" destOrd="0" parTransId="{8489D082-BAD0-40B5-B8D4-1D78DDA8F36E}" sibTransId="{65499A69-AF54-492E-83B3-D0862365CBC2}"/>
    <dgm:cxn modelId="{7B338A10-DD93-6C43-B7D8-403190A2107D}" type="presOf" srcId="{FF28D71F-E9E1-4EAB-AD1D-4F2E3F8F9FB7}" destId="{9A80917B-3BCD-6B43-99A7-F8A0D3859D21}" srcOrd="0" destOrd="0" presId="urn:microsoft.com/office/officeart/2016/7/layout/RepeatingBendingProcessNew"/>
    <dgm:cxn modelId="{55964F17-AE7F-954D-ABFF-2EA3506E0B09}" type="presOf" srcId="{65499A69-AF54-492E-83B3-D0862365CBC2}" destId="{0FBAD16B-144A-2241-8747-723D772A0D5B}" srcOrd="1" destOrd="0" presId="urn:microsoft.com/office/officeart/2016/7/layout/RepeatingBendingProcessNew"/>
    <dgm:cxn modelId="{7D1B8C20-29EE-DF4B-AE7C-9571B23CEDA1}" type="presOf" srcId="{47DECF74-DE78-4547-97B0-00490D01C848}" destId="{F67AFCCA-7DE9-1149-97A6-0DC731259B28}" srcOrd="0" destOrd="0" presId="urn:microsoft.com/office/officeart/2016/7/layout/RepeatingBendingProcessNew"/>
    <dgm:cxn modelId="{46DB8D2D-1053-B24F-AEB9-29851AB572CF}" type="presOf" srcId="{9849F652-20BE-45F3-9EE2-1FB314779336}" destId="{D83B74C2-AABA-1F48-8926-2BF27961FC0B}" srcOrd="1" destOrd="0" presId="urn:microsoft.com/office/officeart/2016/7/layout/RepeatingBendingProcessNew"/>
    <dgm:cxn modelId="{A421122F-FC8A-7C43-8FB2-AFA5F8BA518E}" type="presOf" srcId="{3DD570B7-D00F-4DD0-BEEC-1F1D71AA3540}" destId="{18A204A1-80F5-EA4B-9721-B8BDF45CCAFB}" srcOrd="1" destOrd="0" presId="urn:microsoft.com/office/officeart/2016/7/layout/RepeatingBendingProcessNew"/>
    <dgm:cxn modelId="{D0FB1D35-CC6B-FF4D-BB1F-59657EFA8A7C}" type="presOf" srcId="{AD10B42A-D641-4E3E-B5D6-A33E1EB6F4C5}" destId="{FCC39425-6452-0242-92A6-FA1C8A57E0C5}" srcOrd="0" destOrd="0" presId="urn:microsoft.com/office/officeart/2016/7/layout/RepeatingBendingProcessNew"/>
    <dgm:cxn modelId="{906F8A3D-6836-A34C-B838-D249D358F1D9}" type="presOf" srcId="{3F3EB0F2-5713-4803-A9A8-FD72DA11B221}" destId="{DEBAEBA5-938F-D34E-BECA-99CC9336D4EF}" srcOrd="0" destOrd="0" presId="urn:microsoft.com/office/officeart/2016/7/layout/RepeatingBendingProcessNew"/>
    <dgm:cxn modelId="{E811B065-F831-46A6-B86B-BF125402789B}" srcId="{1AB8E8BF-7BCE-4F29-A091-6115B644471B}" destId="{531AE1A7-421E-4270-B0A5-A74D32784AC2}" srcOrd="2" destOrd="0" parTransId="{A8B4636D-46E1-4BAB-86AB-E2D1D0822A41}" sibTransId="{3F3EB0F2-5713-4803-A9A8-FD72DA11B221}"/>
    <dgm:cxn modelId="{B86FC26E-8029-4271-A623-4F0178B857DC}" srcId="{1AB8E8BF-7BCE-4F29-A091-6115B644471B}" destId="{47DECF74-DE78-4547-97B0-00490D01C848}" srcOrd="1" destOrd="0" parTransId="{7CE5872F-AF99-4AAF-8D56-341FD239CA9C}" sibTransId="{F0D89DFC-453D-494A-8E4D-AE273E67774D}"/>
    <dgm:cxn modelId="{A259E392-2581-F941-BC12-E4B483D2A120}" type="presOf" srcId="{F0D89DFC-453D-494A-8E4D-AE273E67774D}" destId="{847DB5AA-BC2C-5D47-B4A4-D70FE7C31D4A}" srcOrd="1" destOrd="0" presId="urn:microsoft.com/office/officeart/2016/7/layout/RepeatingBendingProcessNew"/>
    <dgm:cxn modelId="{DF8EBB93-7C6F-504E-AAEE-E7AB312BA6D3}" type="presOf" srcId="{F0D89DFC-453D-494A-8E4D-AE273E67774D}" destId="{FE56766E-540A-4D41-8E5C-6DAB1B1736B3}" srcOrd="0" destOrd="0" presId="urn:microsoft.com/office/officeart/2016/7/layout/RepeatingBendingProcessNew"/>
    <dgm:cxn modelId="{E85ADE9A-A6EC-E846-A1F8-DDA104A5BBFE}" type="presOf" srcId="{3F3EB0F2-5713-4803-A9A8-FD72DA11B221}" destId="{7FEE14F7-7878-B446-A1DE-83365BE77967}" srcOrd="1" destOrd="0" presId="urn:microsoft.com/office/officeart/2016/7/layout/RepeatingBendingProcessNew"/>
    <dgm:cxn modelId="{78AEA8AB-BDC9-D249-B632-18A7AA22BDA9}" type="presOf" srcId="{1AB8E8BF-7BCE-4F29-A091-6115B644471B}" destId="{45ED9AD8-FB4B-714A-9377-EC5A5CD9907A}" srcOrd="0" destOrd="0" presId="urn:microsoft.com/office/officeart/2016/7/layout/RepeatingBendingProcessNew"/>
    <dgm:cxn modelId="{07A655AD-6350-B643-82F4-1A1C4945840F}" type="presOf" srcId="{D6F434E3-F383-4185-A391-B6B2DAA5E3FA}" destId="{ABE33520-FAC6-624A-8EFD-762B97D1F16D}" srcOrd="0" destOrd="0" presId="urn:microsoft.com/office/officeart/2016/7/layout/RepeatingBendingProcessNew"/>
    <dgm:cxn modelId="{7E6776B2-A752-4F22-A014-474443F006F7}" srcId="{1AB8E8BF-7BCE-4F29-A091-6115B644471B}" destId="{1353DD71-BF28-4971-B111-F2AA8C8D5D00}" srcOrd="5" destOrd="0" parTransId="{56D769CD-2CC1-4BFE-AD82-AD2D87261EAF}" sibTransId="{33E5A2C2-7A03-4813-BC6B-6162CB438DF5}"/>
    <dgm:cxn modelId="{C01255BE-0F54-854F-9668-F811C3739DCF}" type="presOf" srcId="{9849F652-20BE-45F3-9EE2-1FB314779336}" destId="{CEAFC0A6-A1FB-584C-B5AF-911652788DA3}" srcOrd="0" destOrd="0" presId="urn:microsoft.com/office/officeart/2016/7/layout/RepeatingBendingProcessNew"/>
    <dgm:cxn modelId="{6E368AC6-9EA9-8743-984A-2A3FBC49118E}" type="presOf" srcId="{3DD570B7-D00F-4DD0-BEEC-1F1D71AA3540}" destId="{40A79C42-92A4-8344-A47B-A04FD4491D3C}" srcOrd="0" destOrd="0" presId="urn:microsoft.com/office/officeart/2016/7/layout/RepeatingBendingProcessNew"/>
    <dgm:cxn modelId="{9C2E97C8-E46C-4F43-B4C3-1719EDD74968}" type="presOf" srcId="{531AE1A7-421E-4270-B0A5-A74D32784AC2}" destId="{316558A3-E6D8-4945-B224-3186409311BA}" srcOrd="0" destOrd="0" presId="urn:microsoft.com/office/officeart/2016/7/layout/RepeatingBendingProcessNew"/>
    <dgm:cxn modelId="{0B942DDF-9012-424B-AE9F-876CFD18F449}" type="presOf" srcId="{1353DD71-BF28-4971-B111-F2AA8C8D5D00}" destId="{BB29C139-C690-9843-8556-11F8ED642E05}" srcOrd="0" destOrd="0" presId="urn:microsoft.com/office/officeart/2016/7/layout/RepeatingBendingProcessNew"/>
    <dgm:cxn modelId="{B4FE4FE8-7159-4203-A534-FF9C3FBB4138}" srcId="{1AB8E8BF-7BCE-4F29-A091-6115B644471B}" destId="{FF28D71F-E9E1-4EAB-AD1D-4F2E3F8F9FB7}" srcOrd="3" destOrd="0" parTransId="{34645C7E-722A-4648-B39E-9EEF8B95B05D}" sibTransId="{3DD570B7-D00F-4DD0-BEEC-1F1D71AA3540}"/>
    <dgm:cxn modelId="{8BBB17ED-5360-3C4D-A998-DFED4CE5BFFA}" type="presOf" srcId="{65499A69-AF54-492E-83B3-D0862365CBC2}" destId="{1894825B-2A0B-9747-BFE7-2C65B1FCB746}" srcOrd="0" destOrd="0" presId="urn:microsoft.com/office/officeart/2016/7/layout/RepeatingBendingProcessNew"/>
    <dgm:cxn modelId="{E3639EC5-88B0-3F4C-B466-253F686F0ED2}" type="presParOf" srcId="{45ED9AD8-FB4B-714A-9377-EC5A5CD9907A}" destId="{ABE33520-FAC6-624A-8EFD-762B97D1F16D}" srcOrd="0" destOrd="0" presId="urn:microsoft.com/office/officeart/2016/7/layout/RepeatingBendingProcessNew"/>
    <dgm:cxn modelId="{487F0331-6D5E-774A-A940-CAA8C0ADFBF5}" type="presParOf" srcId="{45ED9AD8-FB4B-714A-9377-EC5A5CD9907A}" destId="{1894825B-2A0B-9747-BFE7-2C65B1FCB746}" srcOrd="1" destOrd="0" presId="urn:microsoft.com/office/officeart/2016/7/layout/RepeatingBendingProcessNew"/>
    <dgm:cxn modelId="{E9F99959-E189-0E45-B3CF-AA531B9802B8}" type="presParOf" srcId="{1894825B-2A0B-9747-BFE7-2C65B1FCB746}" destId="{0FBAD16B-144A-2241-8747-723D772A0D5B}" srcOrd="0" destOrd="0" presId="urn:microsoft.com/office/officeart/2016/7/layout/RepeatingBendingProcessNew"/>
    <dgm:cxn modelId="{B2C7D967-B81C-014E-ACAB-2A424531C0D6}" type="presParOf" srcId="{45ED9AD8-FB4B-714A-9377-EC5A5CD9907A}" destId="{F67AFCCA-7DE9-1149-97A6-0DC731259B28}" srcOrd="2" destOrd="0" presId="urn:microsoft.com/office/officeart/2016/7/layout/RepeatingBendingProcessNew"/>
    <dgm:cxn modelId="{D4A029B9-9FF0-4140-9D57-8295A05669E2}" type="presParOf" srcId="{45ED9AD8-FB4B-714A-9377-EC5A5CD9907A}" destId="{FE56766E-540A-4D41-8E5C-6DAB1B1736B3}" srcOrd="3" destOrd="0" presId="urn:microsoft.com/office/officeart/2016/7/layout/RepeatingBendingProcessNew"/>
    <dgm:cxn modelId="{7ABF402B-591D-1C47-B6CB-0B2317B5825F}" type="presParOf" srcId="{FE56766E-540A-4D41-8E5C-6DAB1B1736B3}" destId="{847DB5AA-BC2C-5D47-B4A4-D70FE7C31D4A}" srcOrd="0" destOrd="0" presId="urn:microsoft.com/office/officeart/2016/7/layout/RepeatingBendingProcessNew"/>
    <dgm:cxn modelId="{924C5BC9-DEA4-EE4C-9A4C-6EEFADF58DD1}" type="presParOf" srcId="{45ED9AD8-FB4B-714A-9377-EC5A5CD9907A}" destId="{316558A3-E6D8-4945-B224-3186409311BA}" srcOrd="4" destOrd="0" presId="urn:microsoft.com/office/officeart/2016/7/layout/RepeatingBendingProcessNew"/>
    <dgm:cxn modelId="{5BCC5E9C-8888-7E4F-A7A0-BEE63F6E3D7B}" type="presParOf" srcId="{45ED9AD8-FB4B-714A-9377-EC5A5CD9907A}" destId="{DEBAEBA5-938F-D34E-BECA-99CC9336D4EF}" srcOrd="5" destOrd="0" presId="urn:microsoft.com/office/officeart/2016/7/layout/RepeatingBendingProcessNew"/>
    <dgm:cxn modelId="{48C3F916-7621-BA47-8B0D-EF993643F417}" type="presParOf" srcId="{DEBAEBA5-938F-D34E-BECA-99CC9336D4EF}" destId="{7FEE14F7-7878-B446-A1DE-83365BE77967}" srcOrd="0" destOrd="0" presId="urn:microsoft.com/office/officeart/2016/7/layout/RepeatingBendingProcessNew"/>
    <dgm:cxn modelId="{02623848-9205-2E4D-AF21-76EA0B537332}" type="presParOf" srcId="{45ED9AD8-FB4B-714A-9377-EC5A5CD9907A}" destId="{9A80917B-3BCD-6B43-99A7-F8A0D3859D21}" srcOrd="6" destOrd="0" presId="urn:microsoft.com/office/officeart/2016/7/layout/RepeatingBendingProcessNew"/>
    <dgm:cxn modelId="{81226EA1-08CB-B74F-8EA3-4616BD9D8A89}" type="presParOf" srcId="{45ED9AD8-FB4B-714A-9377-EC5A5CD9907A}" destId="{40A79C42-92A4-8344-A47B-A04FD4491D3C}" srcOrd="7" destOrd="0" presId="urn:microsoft.com/office/officeart/2016/7/layout/RepeatingBendingProcessNew"/>
    <dgm:cxn modelId="{627D95DF-CE9F-404C-9C87-4367DDBBAB41}" type="presParOf" srcId="{40A79C42-92A4-8344-A47B-A04FD4491D3C}" destId="{18A204A1-80F5-EA4B-9721-B8BDF45CCAFB}" srcOrd="0" destOrd="0" presId="urn:microsoft.com/office/officeart/2016/7/layout/RepeatingBendingProcessNew"/>
    <dgm:cxn modelId="{C79B21A7-413D-0A4B-81BA-25887756B2E2}" type="presParOf" srcId="{45ED9AD8-FB4B-714A-9377-EC5A5CD9907A}" destId="{FCC39425-6452-0242-92A6-FA1C8A57E0C5}" srcOrd="8" destOrd="0" presId="urn:microsoft.com/office/officeart/2016/7/layout/RepeatingBendingProcessNew"/>
    <dgm:cxn modelId="{95419402-8296-FC4E-8684-84F2836A860B}" type="presParOf" srcId="{45ED9AD8-FB4B-714A-9377-EC5A5CD9907A}" destId="{CEAFC0A6-A1FB-584C-B5AF-911652788DA3}" srcOrd="9" destOrd="0" presId="urn:microsoft.com/office/officeart/2016/7/layout/RepeatingBendingProcessNew"/>
    <dgm:cxn modelId="{2C232CB1-A0AB-8547-B8C9-10EF26631E7C}" type="presParOf" srcId="{CEAFC0A6-A1FB-584C-B5AF-911652788DA3}" destId="{D83B74C2-AABA-1F48-8926-2BF27961FC0B}" srcOrd="0" destOrd="0" presId="urn:microsoft.com/office/officeart/2016/7/layout/RepeatingBendingProcessNew"/>
    <dgm:cxn modelId="{F6A875ED-258A-E945-9689-9462A14C6D4C}" type="presParOf" srcId="{45ED9AD8-FB4B-714A-9377-EC5A5CD9907A}" destId="{BB29C139-C690-9843-8556-11F8ED642E05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1F9CE6-4B6B-4739-9FE2-55099FC3DF5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FDF7C0C-DCF8-4B01-AFB9-C1904957975E}">
      <dgm:prSet/>
      <dgm:spPr/>
      <dgm:t>
        <a:bodyPr/>
        <a:lstStyle/>
        <a:p>
          <a:r>
            <a:rPr lang="en-US"/>
            <a:t>Frase inicial:</a:t>
          </a:r>
        </a:p>
      </dgm:t>
    </dgm:pt>
    <dgm:pt modelId="{20005BAA-A6B8-4079-AD15-049AB74DF607}" type="parTrans" cxnId="{5AB1F30E-2292-48A5-A9B3-07F413292274}">
      <dgm:prSet/>
      <dgm:spPr/>
      <dgm:t>
        <a:bodyPr/>
        <a:lstStyle/>
        <a:p>
          <a:endParaRPr lang="en-US"/>
        </a:p>
      </dgm:t>
    </dgm:pt>
    <dgm:pt modelId="{9A63A47F-3BA1-40A7-8F86-ED88C24554C3}" type="sibTrans" cxnId="{5AB1F30E-2292-48A5-A9B3-07F413292274}">
      <dgm:prSet/>
      <dgm:spPr/>
      <dgm:t>
        <a:bodyPr/>
        <a:lstStyle/>
        <a:p>
          <a:endParaRPr lang="en-US"/>
        </a:p>
      </dgm:t>
    </dgm:pt>
    <dgm:pt modelId="{F51B76C2-2F82-445B-A08E-ED70E95BC674}">
      <dgm:prSet/>
      <dgm:spPr/>
      <dgm:t>
        <a:bodyPr/>
        <a:lstStyle/>
        <a:p>
          <a:r>
            <a:rPr lang="en-US"/>
            <a:t>O Banco Central aumentou a taxa de juros porque…</a:t>
          </a:r>
        </a:p>
      </dgm:t>
    </dgm:pt>
    <dgm:pt modelId="{7AE25FF7-FFF7-4F18-B018-77B487B1FAD2}" type="parTrans" cxnId="{8DAF1657-09D6-42C5-BF90-8DCED1A242F8}">
      <dgm:prSet/>
      <dgm:spPr/>
      <dgm:t>
        <a:bodyPr/>
        <a:lstStyle/>
        <a:p>
          <a:endParaRPr lang="en-US"/>
        </a:p>
      </dgm:t>
    </dgm:pt>
    <dgm:pt modelId="{1216BD66-B53C-4896-9A8C-A8C49694B549}" type="sibTrans" cxnId="{8DAF1657-09D6-42C5-BF90-8DCED1A242F8}">
      <dgm:prSet/>
      <dgm:spPr/>
      <dgm:t>
        <a:bodyPr/>
        <a:lstStyle/>
        <a:p>
          <a:endParaRPr lang="en-US"/>
        </a:p>
      </dgm:t>
    </dgm:pt>
    <dgm:pt modelId="{30C50BE3-3453-46AB-8CD1-F43DDDD251F8}" type="pres">
      <dgm:prSet presAssocID="{2A1F9CE6-4B6B-4739-9FE2-55099FC3DF54}" presName="root" presStyleCnt="0">
        <dgm:presLayoutVars>
          <dgm:dir/>
          <dgm:resizeHandles val="exact"/>
        </dgm:presLayoutVars>
      </dgm:prSet>
      <dgm:spPr/>
    </dgm:pt>
    <dgm:pt modelId="{A5F347E7-926C-469E-8771-31BF7389832D}" type="pres">
      <dgm:prSet presAssocID="{DFDF7C0C-DCF8-4B01-AFB9-C1904957975E}" presName="compNode" presStyleCnt="0"/>
      <dgm:spPr/>
    </dgm:pt>
    <dgm:pt modelId="{4D0989AD-2C5B-4DF2-A0EA-85D268B8B642}" type="pres">
      <dgm:prSet presAssocID="{DFDF7C0C-DCF8-4B01-AFB9-C1904957975E}" presName="bgRect" presStyleLbl="bgShp" presStyleIdx="0" presStyleCnt="2"/>
      <dgm:spPr/>
    </dgm:pt>
    <dgm:pt modelId="{DC6A1DBA-EBC9-41EE-9666-B5B9F289B582}" type="pres">
      <dgm:prSet presAssocID="{DFDF7C0C-DCF8-4B01-AFB9-C1904957975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ápis"/>
        </a:ext>
      </dgm:extLst>
    </dgm:pt>
    <dgm:pt modelId="{90C53287-FE15-4848-8C29-4AB9A55B6F0E}" type="pres">
      <dgm:prSet presAssocID="{DFDF7C0C-DCF8-4B01-AFB9-C1904957975E}" presName="spaceRect" presStyleCnt="0"/>
      <dgm:spPr/>
    </dgm:pt>
    <dgm:pt modelId="{E8B115E1-6292-456B-BCD0-B2DBCCA876FB}" type="pres">
      <dgm:prSet presAssocID="{DFDF7C0C-DCF8-4B01-AFB9-C1904957975E}" presName="parTx" presStyleLbl="revTx" presStyleIdx="0" presStyleCnt="2">
        <dgm:presLayoutVars>
          <dgm:chMax val="0"/>
          <dgm:chPref val="0"/>
        </dgm:presLayoutVars>
      </dgm:prSet>
      <dgm:spPr/>
    </dgm:pt>
    <dgm:pt modelId="{A8F2995F-D30D-425B-94BC-5274A6038764}" type="pres">
      <dgm:prSet presAssocID="{9A63A47F-3BA1-40A7-8F86-ED88C24554C3}" presName="sibTrans" presStyleCnt="0"/>
      <dgm:spPr/>
    </dgm:pt>
    <dgm:pt modelId="{6480C99C-9FFD-4C6C-81A3-D47329A5A931}" type="pres">
      <dgm:prSet presAssocID="{F51B76C2-2F82-445B-A08E-ED70E95BC674}" presName="compNode" presStyleCnt="0"/>
      <dgm:spPr/>
    </dgm:pt>
    <dgm:pt modelId="{1B87FA55-6FB4-4BB6-B8EA-09B1D7582796}" type="pres">
      <dgm:prSet presAssocID="{F51B76C2-2F82-445B-A08E-ED70E95BC674}" presName="bgRect" presStyleLbl="bgShp" presStyleIdx="1" presStyleCnt="2"/>
      <dgm:spPr/>
    </dgm:pt>
    <dgm:pt modelId="{136C793A-EE92-45D6-A87B-4E4B36639E5C}" type="pres">
      <dgm:prSet presAssocID="{F51B76C2-2F82-445B-A08E-ED70E95BC67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heiro"/>
        </a:ext>
      </dgm:extLst>
    </dgm:pt>
    <dgm:pt modelId="{872E1C89-6E97-4027-B7D9-D3121928D102}" type="pres">
      <dgm:prSet presAssocID="{F51B76C2-2F82-445B-A08E-ED70E95BC674}" presName="spaceRect" presStyleCnt="0"/>
      <dgm:spPr/>
    </dgm:pt>
    <dgm:pt modelId="{7138AE64-604B-4ABA-BEB6-B4C836C978E2}" type="pres">
      <dgm:prSet presAssocID="{F51B76C2-2F82-445B-A08E-ED70E95BC67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1E72609-3698-4AD8-95D7-04C7A47F6FA5}" type="presOf" srcId="{F51B76C2-2F82-445B-A08E-ED70E95BC674}" destId="{7138AE64-604B-4ABA-BEB6-B4C836C978E2}" srcOrd="0" destOrd="0" presId="urn:microsoft.com/office/officeart/2018/2/layout/IconVerticalSolidList"/>
    <dgm:cxn modelId="{5AB1F30E-2292-48A5-A9B3-07F413292274}" srcId="{2A1F9CE6-4B6B-4739-9FE2-55099FC3DF54}" destId="{DFDF7C0C-DCF8-4B01-AFB9-C1904957975E}" srcOrd="0" destOrd="0" parTransId="{20005BAA-A6B8-4079-AD15-049AB74DF607}" sibTransId="{9A63A47F-3BA1-40A7-8F86-ED88C24554C3}"/>
    <dgm:cxn modelId="{8DAF1657-09D6-42C5-BF90-8DCED1A242F8}" srcId="{2A1F9CE6-4B6B-4739-9FE2-55099FC3DF54}" destId="{F51B76C2-2F82-445B-A08E-ED70E95BC674}" srcOrd="1" destOrd="0" parTransId="{7AE25FF7-FFF7-4F18-B018-77B487B1FAD2}" sibTransId="{1216BD66-B53C-4896-9A8C-A8C49694B549}"/>
    <dgm:cxn modelId="{88EB5DB8-1518-45F9-815D-4B4A96106A89}" type="presOf" srcId="{2A1F9CE6-4B6B-4739-9FE2-55099FC3DF54}" destId="{30C50BE3-3453-46AB-8CD1-F43DDDD251F8}" srcOrd="0" destOrd="0" presId="urn:microsoft.com/office/officeart/2018/2/layout/IconVerticalSolidList"/>
    <dgm:cxn modelId="{638D95D9-06F9-4132-A5F4-945BFBB055C5}" type="presOf" srcId="{DFDF7C0C-DCF8-4B01-AFB9-C1904957975E}" destId="{E8B115E1-6292-456B-BCD0-B2DBCCA876FB}" srcOrd="0" destOrd="0" presId="urn:microsoft.com/office/officeart/2018/2/layout/IconVerticalSolidList"/>
    <dgm:cxn modelId="{8E3614BE-F116-49BE-8DA2-7D0CF5B604EA}" type="presParOf" srcId="{30C50BE3-3453-46AB-8CD1-F43DDDD251F8}" destId="{A5F347E7-926C-469E-8771-31BF7389832D}" srcOrd="0" destOrd="0" presId="urn:microsoft.com/office/officeart/2018/2/layout/IconVerticalSolidList"/>
    <dgm:cxn modelId="{98118F98-DBDB-48C1-9EE5-BFCD0A4B25FF}" type="presParOf" srcId="{A5F347E7-926C-469E-8771-31BF7389832D}" destId="{4D0989AD-2C5B-4DF2-A0EA-85D268B8B642}" srcOrd="0" destOrd="0" presId="urn:microsoft.com/office/officeart/2018/2/layout/IconVerticalSolidList"/>
    <dgm:cxn modelId="{737FE604-5C29-4A5F-8969-C612E8F55A9B}" type="presParOf" srcId="{A5F347E7-926C-469E-8771-31BF7389832D}" destId="{DC6A1DBA-EBC9-41EE-9666-B5B9F289B582}" srcOrd="1" destOrd="0" presId="urn:microsoft.com/office/officeart/2018/2/layout/IconVerticalSolidList"/>
    <dgm:cxn modelId="{F0578FE7-E8F5-425F-ABE4-4625B748DBC3}" type="presParOf" srcId="{A5F347E7-926C-469E-8771-31BF7389832D}" destId="{90C53287-FE15-4848-8C29-4AB9A55B6F0E}" srcOrd="2" destOrd="0" presId="urn:microsoft.com/office/officeart/2018/2/layout/IconVerticalSolidList"/>
    <dgm:cxn modelId="{6F1DDE4E-BAB1-49C6-B354-8AD75964DDE0}" type="presParOf" srcId="{A5F347E7-926C-469E-8771-31BF7389832D}" destId="{E8B115E1-6292-456B-BCD0-B2DBCCA876FB}" srcOrd="3" destOrd="0" presId="urn:microsoft.com/office/officeart/2018/2/layout/IconVerticalSolidList"/>
    <dgm:cxn modelId="{2623D114-B2E3-4BBC-A08C-9D0C51EAE67B}" type="presParOf" srcId="{30C50BE3-3453-46AB-8CD1-F43DDDD251F8}" destId="{A8F2995F-D30D-425B-94BC-5274A6038764}" srcOrd="1" destOrd="0" presId="urn:microsoft.com/office/officeart/2018/2/layout/IconVerticalSolidList"/>
    <dgm:cxn modelId="{B9AE8B15-4FBE-4B08-B7BD-168BD553A87C}" type="presParOf" srcId="{30C50BE3-3453-46AB-8CD1-F43DDDD251F8}" destId="{6480C99C-9FFD-4C6C-81A3-D47329A5A931}" srcOrd="2" destOrd="0" presId="urn:microsoft.com/office/officeart/2018/2/layout/IconVerticalSolidList"/>
    <dgm:cxn modelId="{9C356466-5348-476F-9ADA-188F288BF5DB}" type="presParOf" srcId="{6480C99C-9FFD-4C6C-81A3-D47329A5A931}" destId="{1B87FA55-6FB4-4BB6-B8EA-09B1D7582796}" srcOrd="0" destOrd="0" presId="urn:microsoft.com/office/officeart/2018/2/layout/IconVerticalSolidList"/>
    <dgm:cxn modelId="{627B67E2-A01D-4376-8B7B-8FC33638649D}" type="presParOf" srcId="{6480C99C-9FFD-4C6C-81A3-D47329A5A931}" destId="{136C793A-EE92-45D6-A87B-4E4B36639E5C}" srcOrd="1" destOrd="0" presId="urn:microsoft.com/office/officeart/2018/2/layout/IconVerticalSolidList"/>
    <dgm:cxn modelId="{39EE5BCE-B8EB-4C3E-B1A1-041FE1806858}" type="presParOf" srcId="{6480C99C-9FFD-4C6C-81A3-D47329A5A931}" destId="{872E1C89-6E97-4027-B7D9-D3121928D102}" srcOrd="2" destOrd="0" presId="urn:microsoft.com/office/officeart/2018/2/layout/IconVerticalSolidList"/>
    <dgm:cxn modelId="{62997CEE-919F-45D5-956C-574490140CE0}" type="presParOf" srcId="{6480C99C-9FFD-4C6C-81A3-D47329A5A931}" destId="{7138AE64-604B-4ABA-BEB6-B4C836C978E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82D4D8-A47B-5A4A-ADF4-767FE3853C5F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2A5440-DD07-0A4B-8D63-2AD0E8C4B613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Detalhar a arquitetura </a:t>
          </a:r>
          <a:r>
            <a:rPr lang="pt-BR" sz="2700" i="1" kern="1200" dirty="0"/>
            <a:t>Transformer</a:t>
          </a:r>
          <a:r>
            <a:rPr lang="pt-BR" sz="2700" kern="1200" dirty="0"/>
            <a:t> e os </a:t>
          </a:r>
          <a:r>
            <a:rPr lang="pt-BR" sz="2700" i="1" kern="1200" dirty="0"/>
            <a:t>LLMs</a:t>
          </a:r>
          <a:r>
            <a:rPr lang="pt-BR" sz="2700" kern="1200" dirty="0"/>
            <a:t> — a tecnologia específica que impulsionou a revolução da </a:t>
          </a:r>
          <a:r>
            <a:rPr lang="pt-BR" sz="2700" b="1" kern="1200" dirty="0"/>
            <a:t>IA generativa</a:t>
          </a:r>
          <a:r>
            <a:rPr lang="pt-BR" sz="2700" kern="1200" dirty="0"/>
            <a:t> em linguagem. </a:t>
          </a:r>
          <a:endParaRPr lang="en-US" sz="2700" kern="1200" dirty="0"/>
        </a:p>
      </dsp:txBody>
      <dsp:txXfrm>
        <a:off x="696297" y="538547"/>
        <a:ext cx="4171627" cy="2590157"/>
      </dsp:txXfrm>
    </dsp:sp>
    <dsp:sp modelId="{33FE4CCF-4553-1143-802A-DC1F8A5B6ACE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B6344-2AD7-3845-906F-5631E447BBF7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i="1" kern="1200" dirty="0"/>
            <a:t>Compreender como esses modelos funcionam é essencial para usá-los estrategicamente.</a:t>
          </a:r>
          <a:endParaRPr lang="en-US" sz="2700" kern="1200" dirty="0"/>
        </a:p>
      </dsp:txBody>
      <dsp:txXfrm>
        <a:off x="5991936" y="538547"/>
        <a:ext cx="4171627" cy="2590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94825B-2A0B-9747-BFE7-2C65B1FCB746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357014" y="912848"/>
        <a:ext cx="34897" cy="6979"/>
      </dsp:txXfrm>
    </dsp:sp>
    <dsp:sp modelId="{ABE33520-FAC6-624A-8EFD-762B97D1F16D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Panorama Geral da IA: cronologia e oportunidades;</a:t>
          </a:r>
          <a:endParaRPr lang="en-US" sz="2100" kern="1200" dirty="0"/>
        </a:p>
      </dsp:txBody>
      <dsp:txXfrm>
        <a:off x="8061" y="5979"/>
        <a:ext cx="3034531" cy="1820718"/>
      </dsp:txXfrm>
    </dsp:sp>
    <dsp:sp modelId="{FE56766E-540A-4D41-8E5C-6DAB1B1736B3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7089488" y="912848"/>
        <a:ext cx="34897" cy="6979"/>
      </dsp:txXfrm>
    </dsp:sp>
    <dsp:sp modelId="{F67AFCCA-7DE9-1149-97A6-0DC731259B28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A arquitetura Transformer: atenção, tokens e embeddings (sem matemática);</a:t>
          </a:r>
          <a:endParaRPr lang="en-US" sz="2100" kern="1200" dirty="0"/>
        </a:p>
      </dsp:txBody>
      <dsp:txXfrm>
        <a:off x="3740534" y="5979"/>
        <a:ext cx="3034531" cy="1820718"/>
      </dsp:txXfrm>
    </dsp:sp>
    <dsp:sp modelId="{DEBAEBA5-938F-D34E-BECA-99CC9336D4EF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5070362" y="2155079"/>
        <a:ext cx="374875" cy="6979"/>
      </dsp:txXfrm>
    </dsp:sp>
    <dsp:sp modelId="{316558A3-E6D8-4945-B224-3186409311BA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Como LLMs são treinados: dados, RLHF e alinhamento com intenção humana </a:t>
          </a:r>
          <a:endParaRPr lang="en-US" sz="2100" kern="1200" dirty="0"/>
        </a:p>
      </dsp:txBody>
      <dsp:txXfrm>
        <a:off x="7473007" y="5979"/>
        <a:ext cx="3034531" cy="1820718"/>
      </dsp:txXfrm>
    </dsp:sp>
    <dsp:sp modelId="{40A79C42-92A4-8344-A47B-A04FD4491D3C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357014" y="3431509"/>
        <a:ext cx="34897" cy="6979"/>
      </dsp:txXfrm>
    </dsp:sp>
    <dsp:sp modelId="{9A80917B-3BCD-6B43-99A7-F8A0D3859D21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Capacidades emergentes: raciocínio, geração de código e multimodalidade;</a:t>
          </a:r>
          <a:endParaRPr lang="en-US" sz="2100" kern="1200" dirty="0"/>
        </a:p>
      </dsp:txBody>
      <dsp:txXfrm>
        <a:off x="8061" y="2524640"/>
        <a:ext cx="3034531" cy="1820718"/>
      </dsp:txXfrm>
    </dsp:sp>
    <dsp:sp modelId="{CEAFC0A6-A1FB-584C-B5AF-911652788DA3}">
      <dsp:nvSpPr>
        <dsp:cNvPr id="0" name=""/>
        <dsp:cNvSpPr/>
      </dsp:nvSpPr>
      <dsp:spPr>
        <a:xfrm>
          <a:off x="6773265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7089488" y="3431509"/>
        <a:ext cx="34897" cy="6979"/>
      </dsp:txXfrm>
    </dsp:sp>
    <dsp:sp modelId="{FCC39425-6452-0242-92A6-FA1C8A57E0C5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Contexto e memória: limitações de janela de contexto e estratégias de contorno;</a:t>
          </a:r>
          <a:endParaRPr lang="en-US" sz="2100" kern="1200" dirty="0"/>
        </a:p>
      </dsp:txBody>
      <dsp:txXfrm>
        <a:off x="3740534" y="2524640"/>
        <a:ext cx="3034531" cy="1820718"/>
      </dsp:txXfrm>
    </dsp:sp>
    <dsp:sp modelId="{BB29C139-C690-9843-8556-11F8ED642E05}">
      <dsp:nvSpPr>
        <dsp:cNvPr id="0" name=""/>
        <dsp:cNvSpPr/>
      </dsp:nvSpPr>
      <dsp:spPr>
        <a:xfrm>
          <a:off x="7473007" y="2524640"/>
          <a:ext cx="3034531" cy="1820718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Principais LLMs do mercado: GPT, Claude, Gemini, Llama — diferenças e posicionamento.</a:t>
          </a:r>
          <a:endParaRPr lang="en-US" sz="2100" kern="1200" dirty="0"/>
        </a:p>
      </dsp:txBody>
      <dsp:txXfrm>
        <a:off x="7473007" y="2524640"/>
        <a:ext cx="3034531" cy="18207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0989AD-2C5B-4DF2-A0EA-85D268B8B642}">
      <dsp:nvSpPr>
        <dsp:cNvPr id="0" name=""/>
        <dsp:cNvSpPr/>
      </dsp:nvSpPr>
      <dsp:spPr>
        <a:xfrm>
          <a:off x="0" y="908268"/>
          <a:ext cx="6245265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6A1DBA-EBC9-41EE-9666-B5B9F289B582}">
      <dsp:nvSpPr>
        <dsp:cNvPr id="0" name=""/>
        <dsp:cNvSpPr/>
      </dsp:nvSpPr>
      <dsp:spPr>
        <a:xfrm>
          <a:off x="507233" y="1285549"/>
          <a:ext cx="922242" cy="9222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115E1-6292-456B-BCD0-B2DBCCA876FB}">
      <dsp:nvSpPr>
        <dsp:cNvPr id="0" name=""/>
        <dsp:cNvSpPr/>
      </dsp:nvSpPr>
      <dsp:spPr>
        <a:xfrm>
          <a:off x="1936708" y="908268"/>
          <a:ext cx="4308556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Frase inicial:</a:t>
          </a:r>
        </a:p>
      </dsp:txBody>
      <dsp:txXfrm>
        <a:off x="1936708" y="908268"/>
        <a:ext cx="4308556" cy="1676804"/>
      </dsp:txXfrm>
    </dsp:sp>
    <dsp:sp modelId="{1B87FA55-6FB4-4BB6-B8EA-09B1D7582796}">
      <dsp:nvSpPr>
        <dsp:cNvPr id="0" name=""/>
        <dsp:cNvSpPr/>
      </dsp:nvSpPr>
      <dsp:spPr>
        <a:xfrm>
          <a:off x="0" y="3004274"/>
          <a:ext cx="6245265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6C793A-EE92-45D6-A87B-4E4B36639E5C}">
      <dsp:nvSpPr>
        <dsp:cNvPr id="0" name=""/>
        <dsp:cNvSpPr/>
      </dsp:nvSpPr>
      <dsp:spPr>
        <a:xfrm>
          <a:off x="507233" y="3381554"/>
          <a:ext cx="922242" cy="9222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38AE64-604B-4ABA-BEB6-B4C836C978E2}">
      <dsp:nvSpPr>
        <dsp:cNvPr id="0" name=""/>
        <dsp:cNvSpPr/>
      </dsp:nvSpPr>
      <dsp:spPr>
        <a:xfrm>
          <a:off x="1936708" y="3004274"/>
          <a:ext cx="4308556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 Banco Central aumentou a taxa de juros porque…</a:t>
          </a:r>
        </a:p>
      </dsp:txBody>
      <dsp:txXfrm>
        <a:off x="1936708" y="3004274"/>
        <a:ext cx="4308556" cy="1676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72764-C909-6735-8A1B-CD06602AC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5D4895-5348-9903-8B15-E20FC810D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5A3FB9-172C-3246-1B97-36E227921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CD5F7E-C0D7-3103-53C7-860A0C7E1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773792-11CE-7B60-EF5B-375AA23AD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805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3EB252-CC3C-A5C6-6B46-27B924067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C05F15-5990-4C9E-03D9-042E309D2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DE2635-B1D4-AFB6-50E0-360ED7016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66CA0C-F5D1-5B34-5F01-284FC2D46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6694D5-C365-8436-A1F0-BB0BA16D8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573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1F2684-4CA5-9D21-0BF4-9B7B280C4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5A3E2-6170-D9F1-CF29-D000F26EF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F7507C-CBE5-67A2-CD0F-A809E7954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2C4491-F49F-9FEB-8231-9C4A1425B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1957B7-6ED2-243C-54A0-0E023F750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3498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427FB1-E834-EC20-ED55-EC836EAD4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F0B38F-9F26-B01D-C486-03399FAC40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771D3AC-AAF4-BE97-7BD6-276AA7362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CA0123-BB2D-FE0A-CE7D-F17D8BB6E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E33E20-4DBB-3373-9881-5E76B879C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D272CA-ABE0-ADFF-AD56-5D3A05588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98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1F84E-5993-F5D6-3AC6-655FCC3A0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67B7F0-7E61-3DFA-1D12-1516E1225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30147E-8496-C151-6D5B-FF8E0BAE6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D4B5F4B-13E2-9E7B-DD4C-DA0A6224B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B33CD3D-0716-95B0-070A-A93E935527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9F33271-6147-1E83-C11A-E5FD2290B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743C917-AE61-6525-9089-8927594AA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3D5864-F6C3-EB85-0C6E-120850813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4539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E2F269-D313-317B-E6E8-8E8EA450C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E34F16-B5C5-8E84-5F46-B89F0974C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44F5554-E3AB-49F4-93E1-71DA6F89A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C4E9846-3A44-0B45-41B6-A88BF8493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796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1515F65-F257-4E2A-5A4E-5A2C51E98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B31A11F-E74A-ABAB-3737-A3308313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FA7AC4-144D-71FD-C1C3-3BC99F42D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9457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D81C60-B878-E491-C566-6CD651E42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4A1974-410F-892F-043F-FFFB58AB0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6D23B0-95E9-9230-E757-3FB0681E4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8B08CE6-8142-0ACB-3B27-EAFB3B34F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686951-7604-B709-2156-9AE5FC444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D57190-1198-FC3A-43CE-BB6AABAF1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4746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0E128-42E0-B4B5-9486-1CD3EFCCD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8FC49E9-136A-64A7-155F-5B0A6F8B59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2523261-9707-F3F0-AA22-9042034BE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0DCEA2-F5BE-C8BA-6A0E-E7D13E0A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30AA7-1A1C-4F21-3FDA-4A2DF0AC8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CE547C-939C-1E3F-864E-B6A43E2B9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160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A064C-7CDA-CF5B-5251-31B222CAF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9D04F56-1879-E16D-6B8F-1145537EE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FA269C-A3AF-7AE6-A29B-5B405C004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4B71C1-2C75-07CB-90E4-5584697D3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B3C9C2-B7C8-1CA3-1698-389D425D2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3239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3E1656E-9654-636D-A37A-4F8F1C4CC9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60D04B8-CC1C-1C6E-2A46-DB5A4D0B1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C3051B-8A70-4BDE-A2C4-09D3412C4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00A601-C345-B67B-FCFC-55AE9B266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834257-E7CD-269B-C88C-167677FA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5831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A5BE93E-7596-6AE8-98C8-16D1DCAB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0B0179-68F9-56B7-A796-00552291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1B6B16-E071-2A74-09BC-6DF7879799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AC1C12-A2F4-F440-A547-B800774F7607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ADEB65-AD89-F37C-59CE-448FC2322E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22987B-3A23-881A-66CA-FEB06954B5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3793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E810AE-AA33-F0BE-5A5D-EAF35E42D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4815" y="798703"/>
            <a:ext cx="5221185" cy="3072015"/>
          </a:xfrm>
        </p:spPr>
        <p:txBody>
          <a:bodyPr anchor="b">
            <a:normAutofit/>
          </a:bodyPr>
          <a:lstStyle/>
          <a:p>
            <a:r>
              <a:rPr lang="pt-BR" sz="5100" dirty="0"/>
              <a:t>A arquitetura </a:t>
            </a:r>
            <a:r>
              <a:rPr lang="pt-BR" sz="5100" dirty="0" err="1"/>
              <a:t>Transformer</a:t>
            </a:r>
            <a:r>
              <a:rPr lang="pt-BR" sz="5100" dirty="0"/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F98E9F-AEDC-B5A0-4BF6-824CED3269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0148" y="3962792"/>
            <a:ext cx="5221185" cy="2102108"/>
          </a:xfrm>
        </p:spPr>
        <p:txBody>
          <a:bodyPr anchor="t">
            <a:normAutofit/>
          </a:bodyPr>
          <a:lstStyle/>
          <a:p>
            <a:r>
              <a:rPr lang="pt-BR" sz="1100" b="1" i="1" dirty="0"/>
              <a:t>Transformers e Large Language Models</a:t>
            </a:r>
          </a:p>
          <a:p>
            <a:r>
              <a:rPr lang="pt-BR" sz="1100" b="1" i="1" dirty="0"/>
              <a:t>Aula 03 – 3 de Abril de 2026</a:t>
            </a:r>
          </a:p>
          <a:p>
            <a:endParaRPr lang="pt-BR" sz="1100" b="1" i="1" dirty="0"/>
          </a:p>
          <a:p>
            <a:endParaRPr lang="pt-BR" sz="1100" i="1" dirty="0"/>
          </a:p>
          <a:p>
            <a:endParaRPr lang="pt-BR" sz="1100" i="1" dirty="0"/>
          </a:p>
          <a:p>
            <a:r>
              <a:rPr lang="pt-BR" sz="1100" b="1" dirty="0"/>
              <a:t>Vítor Wilher</a:t>
            </a:r>
            <a:endParaRPr lang="pt-BR" sz="1100" dirty="0"/>
          </a:p>
          <a:p>
            <a:r>
              <a:rPr lang="pt-BR" sz="1100" dirty="0"/>
              <a:t>Data Tech Lead na Análise Macro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0A167A06-F9F8-4C50-1CDE-91FDF8326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243" y="1495701"/>
            <a:ext cx="4939504" cy="3483650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68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480E7A-1FF8-6E8E-D96A-7795E489E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pt-BR" sz="5400" dirty="0"/>
              <a:t>Plano de Voo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BA0DDA-7BB0-5FC0-33CC-F06D5BF82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pt-BR" sz="2000" dirty="0"/>
              <a:t>A Arquitetura </a:t>
            </a:r>
            <a:r>
              <a:rPr lang="pt-BR" sz="2000" dirty="0" err="1"/>
              <a:t>Transformer</a:t>
            </a:r>
            <a:r>
              <a:rPr lang="pt-BR" sz="2000" dirty="0"/>
              <a:t>.</a:t>
            </a:r>
          </a:p>
          <a:p>
            <a:r>
              <a:rPr lang="pt-BR" sz="2000" dirty="0"/>
              <a:t>Exemplo Prático de como a arquitetura </a:t>
            </a:r>
            <a:r>
              <a:rPr lang="pt-BR" sz="2000" dirty="0" err="1"/>
              <a:t>Transformer</a:t>
            </a:r>
            <a:r>
              <a:rPr lang="pt-BR" sz="2000" dirty="0"/>
              <a:t> funciona;</a:t>
            </a:r>
          </a:p>
        </p:txBody>
      </p:sp>
      <p:pic>
        <p:nvPicPr>
          <p:cNvPr id="7" name="Graphic 6" descr="Chave">
            <a:extLst>
              <a:ext uri="{FF2B5EF4-FFF2-40B4-BE49-F238E27FC236}">
                <a16:creationId xmlns:a16="http://schemas.microsoft.com/office/drawing/2014/main" id="{FACAC472-B5CE-A9CA-66B6-849F1F3FD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7236" y="640080"/>
            <a:ext cx="557784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869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BE1AA-9264-4A27-1C91-5A68E9B1F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900E08-A7E0-1635-1A3A-9C6D721AD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pt-BR" sz="3400" dirty="0"/>
              <a:t>Ementa </a:t>
            </a:r>
            <a:br>
              <a:rPr lang="pt-BR" sz="3400" dirty="0"/>
            </a:br>
            <a:r>
              <a:rPr lang="pt-BR" sz="3400" dirty="0"/>
              <a:t>Resumida </a:t>
            </a:r>
            <a:br>
              <a:rPr lang="pt-BR" sz="3400" dirty="0"/>
            </a:br>
            <a:r>
              <a:rPr lang="pt-BR" sz="3400" dirty="0"/>
              <a:t>do Curso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Espaço Reservado para Conteúdo 2">
            <a:extLst>
              <a:ext uri="{FF2B5EF4-FFF2-40B4-BE49-F238E27FC236}">
                <a16:creationId xmlns:a16="http://schemas.microsoft.com/office/drawing/2014/main" id="{DC5F5528-199B-F5A4-542C-C928F1A3E9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3236989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0993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8CFCE0-BA54-8743-C18D-82A50F512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196C5E53-19B9-8EBE-9410-BB0EA32950C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224468-7974-CB49-AF46-D59F94BA6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/>
              <a:t>O que veremos hoje...</a:t>
            </a:r>
          </a:p>
        </p:txBody>
      </p:sp>
      <p:graphicFrame>
        <p:nvGraphicFramePr>
          <p:cNvPr id="26" name="Espaço Reservado para Conteúdo 2">
            <a:extLst>
              <a:ext uri="{FF2B5EF4-FFF2-40B4-BE49-F238E27FC236}">
                <a16:creationId xmlns:a16="http://schemas.microsoft.com/office/drawing/2014/main" id="{BAA8DE2B-2747-A380-D59A-BC6684BDEF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42948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41628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68F1FD-7650-E3EE-1AB1-AFDA23776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o </a:t>
            </a:r>
            <a:r>
              <a:rPr lang="pt-BR" dirty="0" err="1"/>
              <a:t>Transformer</a:t>
            </a:r>
            <a:r>
              <a:rPr lang="pt-BR" dirty="0"/>
              <a:t>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617C7A-697A-C2CC-D00B-4542BC6C1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O </a:t>
            </a:r>
            <a:r>
              <a:rPr lang="pt-BR" dirty="0" err="1"/>
              <a:t>Transformer</a:t>
            </a:r>
            <a:r>
              <a:rPr lang="pt-BR" dirty="0"/>
              <a:t> foi introduzido em 2017 por pesquisadores do Google no famoso artigo </a:t>
            </a:r>
            <a:r>
              <a:rPr lang="pt-BR" b="1" dirty="0"/>
              <a:t>“</a:t>
            </a:r>
            <a:r>
              <a:rPr lang="pt-BR" b="1" dirty="0" err="1"/>
              <a:t>Attention</a:t>
            </a:r>
            <a:r>
              <a:rPr lang="pt-BR" b="1" dirty="0"/>
              <a:t> </a:t>
            </a:r>
            <a:r>
              <a:rPr lang="pt-BR" b="1" dirty="0" err="1"/>
              <a:t>Is</a:t>
            </a:r>
            <a:r>
              <a:rPr lang="pt-BR" b="1" dirty="0"/>
              <a:t> </a:t>
            </a:r>
            <a:r>
              <a:rPr lang="pt-BR" b="1" dirty="0" err="1"/>
              <a:t>All</a:t>
            </a:r>
            <a:r>
              <a:rPr lang="pt-BR" b="1" dirty="0"/>
              <a:t> </a:t>
            </a:r>
            <a:r>
              <a:rPr lang="pt-BR" b="1" dirty="0" err="1"/>
              <a:t>You</a:t>
            </a:r>
            <a:r>
              <a:rPr lang="pt-BR" b="1" dirty="0"/>
              <a:t> </a:t>
            </a:r>
            <a:r>
              <a:rPr lang="pt-BR" b="1" dirty="0" err="1"/>
              <a:t>Need</a:t>
            </a:r>
            <a:r>
              <a:rPr lang="pt-BR" b="1" dirty="0"/>
              <a:t>”</a:t>
            </a:r>
            <a:r>
              <a:rPr lang="pt-BR" dirty="0"/>
              <a:t>. Sua proposta era a de substituir completamente as camadas de recorrência (o “coração” das </a:t>
            </a:r>
            <a:r>
              <a:rPr lang="pt-BR" dirty="0" err="1"/>
              <a:t>LSTMs</a:t>
            </a:r>
            <a:r>
              <a:rPr lang="pt-BR" dirty="0"/>
              <a:t>) por um mecanismo chamado </a:t>
            </a:r>
            <a:r>
              <a:rPr lang="pt-BR" b="1" dirty="0" err="1"/>
              <a:t>auto-atenção</a:t>
            </a:r>
            <a:r>
              <a:rPr lang="pt-BR" b="1" dirty="0"/>
              <a:t> (</a:t>
            </a:r>
            <a:r>
              <a:rPr lang="pt-BR" b="1" i="1" dirty="0"/>
              <a:t>self-</a:t>
            </a:r>
            <a:r>
              <a:rPr lang="pt-BR" b="1" i="1" dirty="0" err="1"/>
              <a:t>attention</a:t>
            </a:r>
            <a:r>
              <a:rPr lang="pt-BR" b="1" dirty="0"/>
              <a:t>)</a:t>
            </a:r>
            <a:r>
              <a:rPr lang="pt-BR" dirty="0"/>
              <a:t>. A arquitetura foi originalmente projetada para tradução automática e é composta por duas partes principais: o </a:t>
            </a:r>
            <a:r>
              <a:rPr lang="pt-BR" dirty="0" err="1"/>
              <a:t>Encoder</a:t>
            </a:r>
            <a:r>
              <a:rPr lang="pt-BR" dirty="0"/>
              <a:t> e o </a:t>
            </a:r>
            <a:r>
              <a:rPr lang="pt-BR" dirty="0" err="1"/>
              <a:t>Decoder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7765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B7D138-FA75-0060-A078-2086C787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Encoder</a:t>
            </a:r>
            <a:r>
              <a:rPr lang="pt-BR" dirty="0"/>
              <a:t> (Codificador)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934C6E-35D8-1B40-DBCE-A93026CF2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Pense no </a:t>
            </a:r>
            <a:r>
              <a:rPr lang="pt-BR" dirty="0" err="1"/>
              <a:t>Encoder</a:t>
            </a:r>
            <a:r>
              <a:rPr lang="pt-BR" dirty="0"/>
              <a:t> como o “leitor” do modelo. Sua função é processar toda a sequência de entrada (seja uma frase em português ou outra língua) e construir uma representação numérica rica em contexto para cada ponto da sequência. Ele lê a frase inteira para entender as relações entre todas as palavras antes de passar a informação adiante.</a:t>
            </a:r>
          </a:p>
        </p:txBody>
      </p:sp>
    </p:spTree>
    <p:extLst>
      <p:ext uri="{BB962C8B-B14F-4D97-AF65-F5344CB8AC3E}">
        <p14:creationId xmlns:p14="http://schemas.microsoft.com/office/powerpoint/2010/main" val="2866876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9A48E3-644F-41EB-F690-08B3CA4A1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Decoder</a:t>
            </a:r>
            <a:r>
              <a:rPr lang="pt-BR" dirty="0"/>
              <a:t> (Decodificador)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856CF4-B7C3-19AB-A011-EC413854B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O </a:t>
            </a:r>
            <a:r>
              <a:rPr lang="pt-BR" dirty="0" err="1"/>
              <a:t>Decoder</a:t>
            </a:r>
            <a:r>
              <a:rPr lang="pt-BR" dirty="0"/>
              <a:t> é o “escritor”. Ele recebe a representação contextualizada do </a:t>
            </a:r>
            <a:r>
              <a:rPr lang="pt-BR" dirty="0" err="1"/>
              <a:t>Encoder</a:t>
            </a:r>
            <a:r>
              <a:rPr lang="pt-BR" dirty="0"/>
              <a:t> e gera a sequência de saída, um item de cada vez. No caso da tradução, ele gera a frase em outro idioma, palavra por palavra.</a:t>
            </a:r>
          </a:p>
        </p:txBody>
      </p:sp>
    </p:spTree>
    <p:extLst>
      <p:ext uri="{BB962C8B-B14F-4D97-AF65-F5344CB8AC3E}">
        <p14:creationId xmlns:p14="http://schemas.microsoft.com/office/powerpoint/2010/main" val="2444376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B1BC0-7D21-F23D-5ACC-899C3F90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Encoder-Decoder</a:t>
            </a:r>
            <a:endParaRPr lang="pt-BR" dirty="0"/>
          </a:p>
        </p:txBody>
      </p:sp>
      <p:pic>
        <p:nvPicPr>
          <p:cNvPr id="5" name="Espaço Reservado para Conteúdo 4" descr="Diagrama&#10;&#10;O conteúdo gerado por IA pode estar incorreto.">
            <a:extLst>
              <a:ext uri="{FF2B5EF4-FFF2-40B4-BE49-F238E27FC236}">
                <a16:creationId xmlns:a16="http://schemas.microsoft.com/office/drawing/2014/main" id="{E2E9611D-AC35-EAF2-F51A-52A6392BE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4898" y="1825625"/>
            <a:ext cx="7682204" cy="4351338"/>
          </a:xfrm>
        </p:spPr>
      </p:pic>
    </p:spTree>
    <p:extLst>
      <p:ext uri="{BB962C8B-B14F-4D97-AF65-F5344CB8AC3E}">
        <p14:creationId xmlns:p14="http://schemas.microsoft.com/office/powerpoint/2010/main" val="3959352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1FF0AE-FB31-35B1-6682-83901A6A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Entendendo a arquitetura...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769AAF-D72C-612B-67C7-CD76F6E69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O que podemos observar pela imagem é que o processo se baseia, principalmente, em redes neurais (</a:t>
            </a:r>
            <a:r>
              <a:rPr lang="pt-BR" dirty="0" err="1"/>
              <a:t>MLPs</a:t>
            </a:r>
            <a:r>
              <a:rPr lang="pt-BR" dirty="0"/>
              <a:t>: </a:t>
            </a:r>
            <a:r>
              <a:rPr lang="pt-BR" dirty="0" err="1"/>
              <a:t>Multi-layer</a:t>
            </a:r>
            <a:r>
              <a:rPr lang="pt-BR" dirty="0"/>
              <a:t> </a:t>
            </a:r>
            <a:r>
              <a:rPr lang="pt-BR" dirty="0" err="1"/>
              <a:t>Perceptrons</a:t>
            </a:r>
            <a:r>
              <a:rPr lang="pt-BR" dirty="0"/>
              <a:t>), responsáveis por treinar e gerar parâmetros que permitem ao modelo compreender as dinâmicas da linguagem.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Mas surge a pergunta: como uma máquina consegue entender e gerar linguagem? </a:t>
            </a:r>
          </a:p>
          <a:p>
            <a:endParaRPr lang="pt-BR" dirty="0"/>
          </a:p>
          <a:p>
            <a:r>
              <a:rPr lang="pt-BR" dirty="0"/>
              <a:t>Como ela “aprende” o significado das palavras e entende a estrutura sintática usada pelos humanos? </a:t>
            </a:r>
          </a:p>
          <a:p>
            <a:endParaRPr lang="pt-BR" dirty="0"/>
          </a:p>
          <a:p>
            <a:r>
              <a:rPr lang="pt-BR" dirty="0"/>
              <a:t>Todo esse funcionamento é explicado pelos componentes presentes dentro dos blocos de </a:t>
            </a:r>
            <a:r>
              <a:rPr lang="pt-BR" dirty="0" err="1"/>
              <a:t>Encoder</a:t>
            </a:r>
            <a:r>
              <a:rPr lang="pt-BR" dirty="0"/>
              <a:t> e </a:t>
            </a:r>
            <a:r>
              <a:rPr lang="pt-BR" dirty="0" err="1"/>
              <a:t>Decoder</a:t>
            </a:r>
            <a:r>
              <a:rPr lang="pt-BR" dirty="0"/>
              <a:t>, que serão detalhados nos próximos tópicos.</a:t>
            </a:r>
          </a:p>
        </p:txBody>
      </p:sp>
    </p:spTree>
    <p:extLst>
      <p:ext uri="{BB962C8B-B14F-4D97-AF65-F5344CB8AC3E}">
        <p14:creationId xmlns:p14="http://schemas.microsoft.com/office/powerpoint/2010/main" val="1164255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5518DC-77EE-55AA-92D7-C097D1920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Entendendo a arquitetura...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6904FC-4417-0201-A991-723D24AE4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Tx/>
              <a:buChar char="-"/>
            </a:pPr>
            <a:r>
              <a:rPr lang="pt-BR" dirty="0"/>
              <a:t>Um ponto importante a se destacar é que a arquitetura mostrada na figura representa o </a:t>
            </a:r>
            <a:r>
              <a:rPr lang="pt-BR" dirty="0" err="1"/>
              <a:t>Transformer</a:t>
            </a:r>
            <a:r>
              <a:rPr lang="pt-BR" dirty="0"/>
              <a:t> original, proposto no artigo </a:t>
            </a:r>
            <a:r>
              <a:rPr lang="pt-BR" i="1" dirty="0" err="1"/>
              <a:t>Attention</a:t>
            </a:r>
            <a:r>
              <a:rPr lang="pt-BR" i="1" dirty="0"/>
              <a:t> </a:t>
            </a:r>
            <a:r>
              <a:rPr lang="pt-BR" i="1" dirty="0" err="1"/>
              <a:t>Is</a:t>
            </a:r>
            <a:r>
              <a:rPr lang="pt-BR" i="1" dirty="0"/>
              <a:t> </a:t>
            </a:r>
            <a:r>
              <a:rPr lang="pt-BR" i="1" dirty="0" err="1"/>
              <a:t>All</a:t>
            </a:r>
            <a:r>
              <a:rPr lang="pt-BR" i="1" dirty="0"/>
              <a:t> </a:t>
            </a:r>
            <a:r>
              <a:rPr lang="pt-BR" i="1" dirty="0" err="1"/>
              <a:t>You</a:t>
            </a:r>
            <a:r>
              <a:rPr lang="pt-BR" i="1" dirty="0"/>
              <a:t> </a:t>
            </a:r>
            <a:r>
              <a:rPr lang="pt-BR" i="1" dirty="0" err="1"/>
              <a:t>Need</a:t>
            </a:r>
            <a:r>
              <a:rPr lang="pt-BR" dirty="0"/>
              <a:t> (</a:t>
            </a:r>
            <a:r>
              <a:rPr lang="pt-BR" dirty="0" err="1"/>
              <a:t>Vaswani</a:t>
            </a:r>
            <a:r>
              <a:rPr lang="pt-BR" dirty="0"/>
              <a:t> et al., 2017). </a:t>
            </a:r>
          </a:p>
          <a:p>
            <a:pPr>
              <a:buFontTx/>
              <a:buChar char="-"/>
            </a:pPr>
            <a:endParaRPr lang="pt-BR" dirty="0"/>
          </a:p>
          <a:p>
            <a:pPr>
              <a:buFontTx/>
              <a:buChar char="-"/>
            </a:pPr>
            <a:r>
              <a:rPr lang="pt-BR" dirty="0"/>
              <a:t>Nesse trabalho, os autores buscavam uma estrutura voltada para tarefas de tradução automática, e por isso adotaram o formato </a:t>
            </a:r>
            <a:r>
              <a:rPr lang="pt-BR" b="1" dirty="0" err="1"/>
              <a:t>encoder-decoder</a:t>
            </a:r>
            <a:r>
              <a:rPr lang="pt-BR" dirty="0"/>
              <a:t>. </a:t>
            </a:r>
          </a:p>
          <a:p>
            <a:pPr>
              <a:buFontTx/>
              <a:buChar char="-"/>
            </a:pPr>
            <a:endParaRPr lang="pt-BR" dirty="0"/>
          </a:p>
          <a:p>
            <a:pPr>
              <a:buFontTx/>
              <a:buChar char="-"/>
            </a:pPr>
            <a:r>
              <a:rPr lang="pt-BR" dirty="0"/>
              <a:t>No entanto, essa arquitetura pode ser adaptada, dando origem a modelos compostos apenas por </a:t>
            </a:r>
            <a:r>
              <a:rPr lang="pt-BR" b="1" dirty="0" err="1"/>
              <a:t>encoders</a:t>
            </a:r>
            <a:r>
              <a:rPr lang="pt-BR" dirty="0"/>
              <a:t> ou apenas por </a:t>
            </a:r>
            <a:r>
              <a:rPr lang="pt-BR" b="1" dirty="0" err="1"/>
              <a:t>decoders</a:t>
            </a:r>
            <a:r>
              <a:rPr lang="pt-BR" dirty="0"/>
              <a:t>, cada um com objetivos e aplicações diferentes.</a:t>
            </a:r>
          </a:p>
        </p:txBody>
      </p:sp>
    </p:spTree>
    <p:extLst>
      <p:ext uri="{BB962C8B-B14F-4D97-AF65-F5344CB8AC3E}">
        <p14:creationId xmlns:p14="http://schemas.microsoft.com/office/powerpoint/2010/main" val="1701171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90D0C-4B0F-6BC2-B4F6-0258BE530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Entendendo a arquitetura...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7485C0-FC95-D4B9-2F43-BA031C932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A arquitetura </a:t>
            </a:r>
            <a:r>
              <a:rPr lang="pt-BR" b="1" dirty="0"/>
              <a:t>somente de </a:t>
            </a:r>
            <a:r>
              <a:rPr lang="pt-BR" b="1" dirty="0" err="1"/>
              <a:t>encoder</a:t>
            </a:r>
            <a:r>
              <a:rPr lang="pt-BR" dirty="0"/>
              <a:t> é ideal para tarefas de compreensão e análise de texto, nas quais o modelo precisa entender o contexto completo de uma sequência. É usada em modelos como o </a:t>
            </a:r>
            <a:r>
              <a:rPr lang="pt-BR" b="1" dirty="0"/>
              <a:t>BERT</a:t>
            </a:r>
            <a:r>
              <a:rPr lang="pt-BR" dirty="0"/>
              <a:t>, aplicados em classificação, análise de sentimento, </a:t>
            </a:r>
            <a:r>
              <a:rPr lang="pt-BR" i="1" dirty="0" err="1"/>
              <a:t>named</a:t>
            </a:r>
            <a:r>
              <a:rPr lang="pt-BR" i="1" dirty="0"/>
              <a:t> </a:t>
            </a:r>
            <a:r>
              <a:rPr lang="pt-BR" i="1" dirty="0" err="1"/>
              <a:t>entity</a:t>
            </a:r>
            <a:r>
              <a:rPr lang="pt-BR" i="1" dirty="0"/>
              <a:t> </a:t>
            </a:r>
            <a:r>
              <a:rPr lang="pt-BR" i="1" dirty="0" err="1"/>
              <a:t>recognition</a:t>
            </a:r>
            <a:r>
              <a:rPr lang="pt-BR" dirty="0"/>
              <a:t> e recuperação de informação.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A arquitetura </a:t>
            </a:r>
            <a:r>
              <a:rPr lang="pt-BR" b="1" dirty="0"/>
              <a:t>somente de </a:t>
            </a:r>
            <a:r>
              <a:rPr lang="pt-BR" b="1" dirty="0" err="1"/>
              <a:t>decoder</a:t>
            </a:r>
            <a:r>
              <a:rPr lang="pt-BR" dirty="0"/>
              <a:t> é voltada para tarefas de geração de texto, em que o modelo precisa prever o próximo token com base nos anteriores. É usada em modelos como o </a:t>
            </a:r>
            <a:r>
              <a:rPr lang="pt-BR" b="1" dirty="0"/>
              <a:t>GPT</a:t>
            </a:r>
            <a:r>
              <a:rPr lang="pt-BR" dirty="0"/>
              <a:t>, aplicados em tradução, resumo e geração autônoma de linguagem.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Já a arquitetura </a:t>
            </a:r>
            <a:r>
              <a:rPr lang="pt-BR" b="1" dirty="0" err="1"/>
              <a:t>encoder-decoder</a:t>
            </a:r>
            <a:r>
              <a:rPr lang="pt-BR" dirty="0"/>
              <a:t> combina o melhor dos dois mundos: o </a:t>
            </a:r>
            <a:r>
              <a:rPr lang="pt-BR" dirty="0" err="1"/>
              <a:t>encoder</a:t>
            </a:r>
            <a:r>
              <a:rPr lang="pt-BR" dirty="0"/>
              <a:t> entende o significado da entrada, enquanto o </a:t>
            </a:r>
            <a:r>
              <a:rPr lang="pt-BR" dirty="0" err="1"/>
              <a:t>decoder</a:t>
            </a:r>
            <a:r>
              <a:rPr lang="pt-BR" dirty="0"/>
              <a:t> gera a saída com base nessa compreensão. É o formato típico de modelos de tradução e sumarização, como o </a:t>
            </a:r>
            <a:r>
              <a:rPr lang="pt-BR" b="1" dirty="0"/>
              <a:t>T5</a:t>
            </a:r>
            <a:r>
              <a:rPr lang="pt-BR" dirty="0"/>
              <a:t> e o </a:t>
            </a:r>
            <a:r>
              <a:rPr lang="pt-BR" b="1" dirty="0"/>
              <a:t>BART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0442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547DE-E874-0100-5CF3-A04366748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Entendendo a arquitetura...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7D8B76-0FBB-CBB6-2175-179978E7B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Esses modelos são compostos por uma </a:t>
            </a:r>
            <a:r>
              <a:rPr lang="pt-BR" b="1" dirty="0"/>
              <a:t>série de blocos </a:t>
            </a:r>
            <a:r>
              <a:rPr lang="pt-BR" b="1" dirty="0" err="1"/>
              <a:t>Transformer</a:t>
            </a:r>
            <a:r>
              <a:rPr lang="pt-BR" dirty="0"/>
              <a:t>, que se repetem diversas vezes — desde cerca de seis blocos no artigo original de </a:t>
            </a:r>
            <a:r>
              <a:rPr lang="pt-BR" dirty="0" err="1"/>
              <a:t>Vaswani</a:t>
            </a:r>
            <a:r>
              <a:rPr lang="pt-BR" dirty="0"/>
              <a:t> et al. (2017), até mais de cem em grandes modelos modernos. </a:t>
            </a:r>
          </a:p>
          <a:p>
            <a:endParaRPr lang="pt-BR" dirty="0"/>
          </a:p>
          <a:p>
            <a:r>
              <a:rPr lang="pt-BR" dirty="0"/>
              <a:t>Cada bloco recebe uma entrada, realiza o processamento das informações e passa o resultado para o próximo bloco, formando uma cadeia de camadas empilhadas.</a:t>
            </a:r>
          </a:p>
        </p:txBody>
      </p:sp>
    </p:spTree>
    <p:extLst>
      <p:ext uri="{BB962C8B-B14F-4D97-AF65-F5344CB8AC3E}">
        <p14:creationId xmlns:p14="http://schemas.microsoft.com/office/powerpoint/2010/main" val="2829893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5C3154-2E17-0DD5-BF53-BC9DF19E9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Entendendo a arquitetura em linhas gerais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95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768B0F-8CD8-F94A-649D-008CA133B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dirty="0" err="1"/>
              <a:t>T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okenização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criação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embeddings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3966F8A-6C8F-D865-484B-20BE73A8D7E1}"/>
              </a:ext>
            </a:extLst>
          </p:cNvPr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 u="none" strike="noStrike">
                <a:effectLst/>
              </a:rPr>
              <a:t>A </a:t>
            </a:r>
            <a:r>
              <a:rPr lang="en-US" sz="1700" b="1" i="0">
                <a:effectLst/>
              </a:rPr>
              <a:t>primeira etapa</a:t>
            </a:r>
            <a:r>
              <a:rPr lang="en-US" sz="1700" b="0" i="0" u="none" strike="noStrike">
                <a:effectLst/>
              </a:rPr>
              <a:t> do processo envolve a </a:t>
            </a:r>
            <a:r>
              <a:rPr lang="en-US" sz="1700" b="1" i="0">
                <a:effectLst/>
              </a:rPr>
              <a:t>tokenização e a criação dos embeddings</a:t>
            </a:r>
            <a:r>
              <a:rPr lang="en-US" sz="1700" b="0" i="0" u="none" strike="noStrike">
                <a:effectLst/>
              </a:rPr>
              <a:t>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 u="none" strike="noStrike">
                <a:effectLst/>
              </a:rPr>
              <a:t>Nessa fase, o texto é dividido em pequenas unidades</a:t>
            </a:r>
            <a:r>
              <a:rPr lang="en-US" sz="1700"/>
              <a:t> </a:t>
            </a:r>
            <a:r>
              <a:rPr lang="en-US" sz="1700" b="0" i="0" u="none" strike="noStrike">
                <a:effectLst/>
              </a:rPr>
              <a:t>chamadas </a:t>
            </a:r>
            <a:r>
              <a:rPr lang="en-US" sz="1700" b="0" i="1">
                <a:effectLst/>
              </a:rPr>
              <a:t>tokens</a:t>
            </a:r>
            <a:r>
              <a:rPr lang="en-US" sz="1700" b="0" i="0" u="none" strike="noStrike">
                <a:effectLst/>
              </a:rPr>
              <a:t> (palavras ou pedaços de palavras), que são convertidas em vetores numéricos.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b="0" i="0" u="none" strike="noStrike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 u="none" strike="noStrike">
                <a:effectLst/>
              </a:rPr>
              <a:t>Esse passo é fundamental para que a máquina consiga “ler” e representar a linguagem humana em formato matemático.</a:t>
            </a:r>
            <a:endParaRPr lang="en-US" sz="1700"/>
          </a:p>
        </p:txBody>
      </p:sp>
      <p:pic>
        <p:nvPicPr>
          <p:cNvPr id="9" name="Espaço Reservado para Conteúdo 8" descr="Diagrama&#10;&#10;O conteúdo gerado por IA pode estar incorreto.">
            <a:extLst>
              <a:ext uri="{FF2B5EF4-FFF2-40B4-BE49-F238E27FC236}">
                <a16:creationId xmlns:a16="http://schemas.microsoft.com/office/drawing/2014/main" id="{73F8225C-D73B-02F0-6BC1-771E9CCF55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5816" y="1501398"/>
            <a:ext cx="6440424" cy="379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84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2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175899-5767-6EA4-A6DD-A9C5A117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Atenção e Feedforward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" name="Rectangle 24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26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A792B07-7ABF-99D3-EC90-89EA2C44FCBB}"/>
              </a:ext>
            </a:extLst>
          </p:cNvPr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effectLst/>
              </a:rPr>
              <a:t>Em seguida, cada bloco Transformer é composto por dois componentes principais: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b="0" i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</a:rPr>
              <a:t>Camada de Atenção (Attention Layer)</a:t>
            </a:r>
            <a:br>
              <a:rPr lang="en-US" sz="1100" b="0" i="0">
                <a:effectLst/>
              </a:rPr>
            </a:br>
            <a:r>
              <a:rPr lang="en-US" sz="1100" b="0" i="0">
                <a:effectLst/>
              </a:rPr>
              <a:t>Essa camada é responsável por identificar e incorporar </a:t>
            </a:r>
            <a:r>
              <a:rPr lang="en-US" sz="1100" b="1" i="0">
                <a:effectLst/>
              </a:rPr>
              <a:t>informações relevantes</a:t>
            </a:r>
            <a:r>
              <a:rPr lang="en-US" sz="1100" b="0" i="0">
                <a:effectLst/>
              </a:rPr>
              <a:t> de outros tokens na sequência. Em outras palavras, ela permite que o modelo entenda </a:t>
            </a:r>
            <a:r>
              <a:rPr lang="en-US" sz="1100" b="1" i="0">
                <a:effectLst/>
              </a:rPr>
              <a:t>quais palavras estão relacionadas entre si</a:t>
            </a:r>
            <a:r>
              <a:rPr lang="en-US" sz="1100" b="0" i="0">
                <a:effectLst/>
              </a:rPr>
              <a:t>, mesmo que distantes no texto. É nessa etapa que o modelo “presta atenção” nas partes mais importantes do contexto.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b="0" i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b="0" i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</a:rPr>
              <a:t>Camada Feedforward (Feedforward Layer ou MLPs)</a:t>
            </a:r>
            <a:br>
              <a:rPr lang="en-US" sz="1100" b="0" i="0">
                <a:effectLst/>
              </a:rPr>
            </a:br>
            <a:r>
              <a:rPr lang="en-US" sz="1100" b="0" i="0">
                <a:effectLst/>
              </a:rPr>
              <a:t>Após o mecanismo de atenção, os vetores passam por uma rede neural do tipo </a:t>
            </a:r>
            <a:r>
              <a:rPr lang="en-US" sz="1100" b="1" i="0">
                <a:effectLst/>
              </a:rPr>
              <a:t>MLP (Multi-Layer Perceptron)</a:t>
            </a:r>
            <a:r>
              <a:rPr lang="en-US" sz="1100" b="0" i="0">
                <a:effectLst/>
              </a:rPr>
              <a:t>. Essa é a parte onde ocorre a </a:t>
            </a:r>
            <a:r>
              <a:rPr lang="en-US" sz="1100" b="1" i="0">
                <a:effectLst/>
              </a:rPr>
              <a:t>maior capacidade de processamento do modelo</a:t>
            </a:r>
            <a:r>
              <a:rPr lang="en-US" sz="1100" b="0" i="0">
                <a:effectLst/>
              </a:rPr>
              <a:t>, responsável por combinar, transformar e refinar as representações numéricas criadas pela atenção.</a:t>
            </a:r>
          </a:p>
        </p:txBody>
      </p:sp>
      <p:pic>
        <p:nvPicPr>
          <p:cNvPr id="7" name="Espaço Reservado para Conteúdo 6" descr="Diagrama&#10;&#10;O conteúdo gerado por IA pode estar incorreto.">
            <a:extLst>
              <a:ext uri="{FF2B5EF4-FFF2-40B4-BE49-F238E27FC236}">
                <a16:creationId xmlns:a16="http://schemas.microsoft.com/office/drawing/2014/main" id="{B8EF7778-93F8-6D65-43A2-17F1FEC3A8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5816" y="2298401"/>
            <a:ext cx="6440424" cy="220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094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A3C185-DFD5-153F-067E-86D83EE82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LM Head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5FDB853-4076-896B-C7B1-5B30B48C06D7}"/>
              </a:ext>
            </a:extLst>
          </p:cNvPr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>
                <a:effectLst/>
              </a:rPr>
              <a:t>Por fim, após passarem por todos os blocos e suas transformações, os </a:t>
            </a:r>
            <a:r>
              <a:rPr lang="en-US" b="1" i="0">
                <a:effectLst/>
              </a:rPr>
              <a:t>vetores numéricos finais (output vectors)</a:t>
            </a:r>
            <a:r>
              <a:rPr lang="en-US" b="0" i="0" u="none" strike="noStrike">
                <a:effectLst/>
              </a:rPr>
              <a:t> são enviados ao </a:t>
            </a:r>
            <a:r>
              <a:rPr lang="en-US" b="1" i="0">
                <a:effectLst/>
              </a:rPr>
              <a:t>LM Head (Language Model Head)</a:t>
            </a:r>
            <a:r>
              <a:rPr lang="en-US" b="0" i="0" u="none" strike="noStrike">
                <a:effectLst/>
              </a:rPr>
              <a:t> — uma camada de saída que converte esses vetores em probabilidades sobre o próximo token da sequência, gerando assim o texto final.</a:t>
            </a:r>
            <a:endParaRPr lang="en-US"/>
          </a:p>
        </p:txBody>
      </p:sp>
      <p:pic>
        <p:nvPicPr>
          <p:cNvPr id="5" name="Espaço Reservado para Conteúdo 4" descr="Diagrama&#10;&#10;O conteúdo gerado por IA pode estar incorreto.">
            <a:extLst>
              <a:ext uri="{FF2B5EF4-FFF2-40B4-BE49-F238E27FC236}">
                <a16:creationId xmlns:a16="http://schemas.microsoft.com/office/drawing/2014/main" id="{79CC007F-D4F8-C159-E3CC-40BD54761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5816" y="2008582"/>
            <a:ext cx="6440424" cy="278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818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4D7F9E-8FF7-FF11-6503-EE855694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 que cada bloco faz...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320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09A8D-06D9-A86E-630B-B35968BB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1. Tokenização e </a:t>
            </a:r>
            <a:r>
              <a:rPr lang="pt-BR" b="1" dirty="0" err="1"/>
              <a:t>Embedding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3D87A6-8973-2409-8A41-B9ED7C25F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Tudo começa com a </a:t>
            </a:r>
            <a:r>
              <a:rPr lang="pt-BR" b="1" dirty="0"/>
              <a:t>entrada de dados (input </a:t>
            </a:r>
            <a:r>
              <a:rPr lang="pt-BR" b="1" dirty="0" err="1"/>
              <a:t>sequence</a:t>
            </a:r>
            <a:r>
              <a:rPr lang="pt-BR" b="1" dirty="0"/>
              <a:t>)</a:t>
            </a:r>
            <a:r>
              <a:rPr lang="pt-BR" dirty="0"/>
              <a:t>, seja um texto, uma sequência de preços ou um áudio. O modelo precisa converter isso em algo que ele entenda — números.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Tokenização</a:t>
            </a:r>
            <a:r>
              <a:rPr lang="pt-BR" dirty="0"/>
              <a:t> é o primeiro passo. No caso de textos, o modelo quebra as frases em pequenas unidades chamadas </a:t>
            </a:r>
            <a:r>
              <a:rPr lang="pt-BR" b="1" dirty="0"/>
              <a:t>tokens</a:t>
            </a:r>
            <a:r>
              <a:rPr lang="pt-BR" dirty="0"/>
              <a:t> — que podem ser palavras, </a:t>
            </a:r>
            <a:r>
              <a:rPr lang="pt-BR" dirty="0" err="1"/>
              <a:t>subpalavras</a:t>
            </a:r>
            <a:r>
              <a:rPr lang="pt-BR" dirty="0"/>
              <a:t> ou até caracteres.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b="1" dirty="0" err="1"/>
              <a:t>Embedding</a:t>
            </a:r>
            <a:r>
              <a:rPr lang="pt-BR" dirty="0"/>
              <a:t> vem em seguida. Cada token é transformado em um vetor numérico de alta dimensão, o chamado </a:t>
            </a:r>
            <a:r>
              <a:rPr lang="pt-BR" b="1" dirty="0" err="1"/>
              <a:t>embedding</a:t>
            </a:r>
            <a:r>
              <a:rPr lang="pt-BR" dirty="0"/>
              <a:t>. Esse vetor captura as relações semânticas (no caso de texto) Por exemplo, </a:t>
            </a:r>
            <a:r>
              <a:rPr lang="pt-BR" dirty="0" err="1"/>
              <a:t>embeddings</a:t>
            </a:r>
            <a:r>
              <a:rPr lang="pt-BR" dirty="0"/>
              <a:t> próximos no espaço vetorial indicam tokens que possuem significados semelhantes ou comportamentos parecidos.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7847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53303-6241-E1EB-B85E-7579A2D4F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2. Self-</a:t>
            </a:r>
            <a:r>
              <a:rPr lang="pt-BR" b="1" dirty="0" err="1"/>
              <a:t>Attention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5A2EEB-F27A-B24A-3F8E-349B6AE83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Depois que cada token é convertido em um vetor, o modelo precisa entender como cada um se relaciona com os outros. É nesse ponto que entra o </a:t>
            </a:r>
            <a:r>
              <a:rPr lang="pt-BR" b="1" dirty="0"/>
              <a:t>mecanismo de atenção (</a:t>
            </a:r>
            <a:r>
              <a:rPr lang="pt-BR" b="1" dirty="0" err="1"/>
              <a:t>attention</a:t>
            </a:r>
            <a:r>
              <a:rPr lang="pt-BR" b="1" dirty="0"/>
              <a:t> </a:t>
            </a:r>
            <a:r>
              <a:rPr lang="pt-BR" b="1" dirty="0" err="1"/>
              <a:t>mechanism</a:t>
            </a:r>
            <a:r>
              <a:rPr lang="pt-BR" b="1" dirty="0"/>
              <a:t>)</a:t>
            </a:r>
            <a:r>
              <a:rPr lang="pt-BR" dirty="0"/>
              <a:t> — o verdadeiro núcleo do </a:t>
            </a:r>
            <a:r>
              <a:rPr lang="pt-BR" dirty="0" err="1"/>
              <a:t>Transformer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O </a:t>
            </a:r>
            <a:r>
              <a:rPr lang="pt-BR" b="1" dirty="0"/>
              <a:t>self-</a:t>
            </a:r>
            <a:r>
              <a:rPr lang="pt-BR" b="1" dirty="0" err="1"/>
              <a:t>attention</a:t>
            </a:r>
            <a:r>
              <a:rPr lang="pt-BR" dirty="0"/>
              <a:t> permite que o modelo observe todos os tokens de uma sequência simultaneamente e identifique quais são mais importantes para compreender o contexto de cada um.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8398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A5EF6D-A27E-3442-256A-33C38636A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mecanismo de atenção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7D6106-7BFC-788C-4756-018CCC4B0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/>
              <a:t>O funcionamento da atenção envolve duas etapas principais: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Atribuir pesos de relevância</a:t>
            </a:r>
            <a:r>
              <a:rPr lang="pt-BR" dirty="0"/>
              <a:t> a cada token anterior em relação ao token atual;</a:t>
            </a:r>
          </a:p>
          <a:p>
            <a:r>
              <a:rPr lang="pt-BR" b="1" dirty="0"/>
              <a:t>Combinar as informações</a:t>
            </a:r>
            <a:r>
              <a:rPr lang="pt-BR" dirty="0"/>
              <a:t> ponderadas desses tokens para formar um novo vetor de saída.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Para ampliar essa capacidade, o </a:t>
            </a:r>
            <a:r>
              <a:rPr lang="pt-BR" dirty="0" err="1"/>
              <a:t>Transformer</a:t>
            </a:r>
            <a:r>
              <a:rPr lang="pt-BR" dirty="0"/>
              <a:t> executa várias atenções em paralelo — um processo chamado de </a:t>
            </a:r>
            <a:r>
              <a:rPr lang="pt-BR" b="1" dirty="0" err="1"/>
              <a:t>multi-head</a:t>
            </a:r>
            <a:r>
              <a:rPr lang="pt-BR" b="1" dirty="0"/>
              <a:t> </a:t>
            </a:r>
            <a:r>
              <a:rPr lang="pt-BR" b="1" dirty="0" err="1"/>
              <a:t>attention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Cada </a:t>
            </a:r>
            <a:r>
              <a:rPr lang="pt-BR" i="1" dirty="0" err="1"/>
              <a:t>head</a:t>
            </a:r>
            <a:r>
              <a:rPr lang="pt-BR" dirty="0"/>
              <a:t> aprende a capturar padrões diferentes do texto, como dependências gramaticais, relações semânticas ou referências a longo prazo. Isso permite que o modelo compreenda aspectos distintos da mesma sequência simultaneamente.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5134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16C6FD-DCF9-C6E7-6C44-A4AECEB53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mecanismo de atenção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77AD10-AC63-3AFD-86E1-48F065C7D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Dentro de uma </a:t>
            </a:r>
            <a:r>
              <a:rPr lang="pt-BR" i="1" dirty="0" err="1"/>
              <a:t>attention</a:t>
            </a:r>
            <a:r>
              <a:rPr lang="pt-BR" i="1" dirty="0"/>
              <a:t> </a:t>
            </a:r>
            <a:r>
              <a:rPr lang="pt-BR" i="1" dirty="0" err="1"/>
              <a:t>head</a:t>
            </a:r>
            <a:r>
              <a:rPr lang="pt-BR" dirty="0"/>
              <a:t>, o cálculo começa com a criação de três vetores derivados de cada </a:t>
            </a:r>
            <a:r>
              <a:rPr lang="pt-BR" i="1" dirty="0" err="1"/>
              <a:t>embedding</a:t>
            </a:r>
            <a:r>
              <a:rPr lang="pt-BR" dirty="0"/>
              <a:t>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Query (</a:t>
            </a:r>
            <a:r>
              <a:rPr lang="pt-BR" b="1" dirty="0" err="1"/>
              <a:t>Q</a:t>
            </a:r>
            <a:r>
              <a:rPr lang="pt-BR" b="1" dirty="0"/>
              <a:t>)</a:t>
            </a:r>
            <a:r>
              <a:rPr lang="pt-BR" dirty="0"/>
              <a:t> – representa o token que “pergunta” quais outros tokens são relevantes para ele;</a:t>
            </a:r>
          </a:p>
          <a:p>
            <a:r>
              <a:rPr lang="pt-BR" b="1" dirty="0"/>
              <a:t>Key (</a:t>
            </a:r>
            <a:r>
              <a:rPr lang="pt-BR" b="1" dirty="0" err="1"/>
              <a:t>K</a:t>
            </a:r>
            <a:r>
              <a:rPr lang="pt-BR" b="1" dirty="0"/>
              <a:t>)</a:t>
            </a:r>
            <a:r>
              <a:rPr lang="pt-BR" dirty="0"/>
              <a:t> – descreve o conteúdo de cada token, como se dissesse “eu represento esta informação”;</a:t>
            </a:r>
          </a:p>
          <a:p>
            <a:r>
              <a:rPr lang="pt-BR" b="1" dirty="0" err="1"/>
              <a:t>Value</a:t>
            </a:r>
            <a:r>
              <a:rPr lang="pt-BR" b="1" dirty="0"/>
              <a:t> (V)</a:t>
            </a:r>
            <a:r>
              <a:rPr lang="pt-BR" dirty="0"/>
              <a:t> – contém a informação que será usada caso a </a:t>
            </a:r>
            <a:r>
              <a:rPr lang="pt-BR" i="1" dirty="0"/>
              <a:t>Key</a:t>
            </a:r>
            <a:r>
              <a:rPr lang="pt-BR" dirty="0"/>
              <a:t> seja considerada relevante.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3146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AE9C7-0ED7-A4A1-D7F6-439CD263A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3. </a:t>
            </a:r>
            <a:r>
              <a:rPr lang="pt-BR" b="1" dirty="0" err="1"/>
              <a:t>Positional</a:t>
            </a:r>
            <a:r>
              <a:rPr lang="pt-BR" b="1" dirty="0"/>
              <a:t> </a:t>
            </a:r>
            <a:r>
              <a:rPr lang="pt-BR" b="1" dirty="0" err="1"/>
              <a:t>Encoding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93A4E4-665A-891C-A5E5-69642156E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Um problema do self-</a:t>
            </a:r>
            <a:r>
              <a:rPr lang="pt-BR" dirty="0" err="1"/>
              <a:t>attention</a:t>
            </a:r>
            <a:r>
              <a:rPr lang="pt-BR" dirty="0"/>
              <a:t> é que ele não entende a ordem natural dos tokens. Para o modelo, “o gato dorme” e “dorme o gato” são tecnicamente a mesma coisa, pois a relação de atenção entre as palavras é a mesma. Isso acontece porque o mecanismo de atenção, por si só, é </a:t>
            </a:r>
            <a:r>
              <a:rPr lang="pt-BR" b="1" dirty="0"/>
              <a:t>invariante à posição</a:t>
            </a:r>
            <a:r>
              <a:rPr lang="pt-BR" dirty="0"/>
              <a:t> — ele apenas mede relações entre tokens, sem saber onde cada um está na sequência.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Para resolver esse problema, o </a:t>
            </a:r>
            <a:r>
              <a:rPr lang="pt-BR" dirty="0" err="1"/>
              <a:t>Transformer</a:t>
            </a:r>
            <a:r>
              <a:rPr lang="pt-BR" dirty="0"/>
              <a:t> adiciona o </a:t>
            </a:r>
            <a:r>
              <a:rPr lang="pt-BR" b="1" dirty="0" err="1"/>
              <a:t>Positional</a:t>
            </a:r>
            <a:r>
              <a:rPr lang="pt-BR" b="1" dirty="0"/>
              <a:t> </a:t>
            </a:r>
            <a:r>
              <a:rPr lang="pt-BR" b="1" dirty="0" err="1"/>
              <a:t>Encoding</a:t>
            </a:r>
            <a:r>
              <a:rPr lang="pt-BR" b="1" dirty="0"/>
              <a:t> (PE)</a:t>
            </a:r>
            <a:r>
              <a:rPr lang="pt-BR" dirty="0"/>
              <a:t>, um vetor que representa a </a:t>
            </a:r>
            <a:r>
              <a:rPr lang="pt-BR" b="1" dirty="0"/>
              <a:t>posição</a:t>
            </a:r>
            <a:r>
              <a:rPr lang="pt-BR" dirty="0"/>
              <a:t> de cada token na sequência. Esses vetores são somados diretamente aos </a:t>
            </a:r>
            <a:r>
              <a:rPr lang="pt-BR" dirty="0" err="1"/>
              <a:t>embeddings</a:t>
            </a:r>
            <a:r>
              <a:rPr lang="pt-BR" dirty="0"/>
              <a:t> das palavras antes de entrarem no mecanismo de atenção, de modo que cada posição carregue uma assinatura numérica única.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3812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2772BD-D1EF-14CC-8998-34A0AE052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4. Feed-</a:t>
            </a:r>
            <a:r>
              <a:rPr lang="pt-BR" b="1" dirty="0" err="1"/>
              <a:t>Forward</a:t>
            </a:r>
            <a:r>
              <a:rPr lang="pt-BR" b="1" dirty="0"/>
              <a:t> Network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6389D8-7A75-F8F0-C14A-7E233774C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Após as camadas de atenção e codificação posicional, cada token passa por uma </a:t>
            </a:r>
            <a:r>
              <a:rPr lang="pt-BR" b="1" dirty="0"/>
              <a:t>rede neural feed-</a:t>
            </a:r>
            <a:r>
              <a:rPr lang="pt-BR" b="1" dirty="0" err="1"/>
              <a:t>forward</a:t>
            </a:r>
            <a:r>
              <a:rPr lang="pt-BR" dirty="0"/>
              <a:t>, aplicada individualmente a cada posição.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Essa etapa é responsável por transformar as representações produzidas pela atenção em </a:t>
            </a:r>
            <a:r>
              <a:rPr lang="pt-BR" b="1" dirty="0"/>
              <a:t>informações mais abstratas e não lineares</a:t>
            </a:r>
            <a:r>
              <a:rPr lang="pt-BR" dirty="0"/>
              <a:t>. Ela ajuda o modelo a captar padrões complexos e a ajustar as relações aprendidas nas camadas anteriores.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É como se, depois de olhar o contexto global, o modelo refinasse localmente o entendimento de cada token — adicionando nuances e captando interações sutis.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2378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B65A4-E18A-062E-BF41-75A047675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5. </a:t>
            </a:r>
            <a:r>
              <a:rPr lang="pt-BR" b="1" dirty="0" err="1"/>
              <a:t>Multi-Head</a:t>
            </a:r>
            <a:r>
              <a:rPr lang="pt-BR" b="1" dirty="0"/>
              <a:t> </a:t>
            </a:r>
            <a:r>
              <a:rPr lang="pt-BR" b="1" dirty="0" err="1"/>
              <a:t>Attention</a:t>
            </a:r>
            <a:r>
              <a:rPr lang="pt-BR" b="1" dirty="0"/>
              <a:t>: múltiplas perspectivas, um mesmo contexto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EF00FD-18B3-F1B6-B7DE-A8E5461EC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Fazer o processo de atenção uma única vez já permite que o modelo entenda como as palavras se relacionam entre si. No entanto, a linguagem — e o mundo — são complexos demais para serem compreendidos por apenas uma “visão”. É por isso que o </a:t>
            </a:r>
            <a:r>
              <a:rPr lang="pt-BR" dirty="0" err="1"/>
              <a:t>Transformer</a:t>
            </a:r>
            <a:r>
              <a:rPr lang="pt-BR" dirty="0"/>
              <a:t> usa o conceito de </a:t>
            </a:r>
            <a:r>
              <a:rPr lang="pt-BR" b="1" dirty="0"/>
              <a:t>múltiplas cabeças de atenção</a:t>
            </a:r>
            <a:r>
              <a:rPr lang="pt-BR" dirty="0"/>
              <a:t> (</a:t>
            </a:r>
            <a:r>
              <a:rPr lang="pt-BR" i="1" dirty="0" err="1"/>
              <a:t>multi-head</a:t>
            </a:r>
            <a:r>
              <a:rPr lang="pt-BR" i="1" dirty="0"/>
              <a:t> </a:t>
            </a:r>
            <a:r>
              <a:rPr lang="pt-BR" i="1" dirty="0" err="1"/>
              <a:t>attention</a:t>
            </a:r>
            <a:r>
              <a:rPr lang="pt-BR" dirty="0"/>
              <a:t>).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Cada cabeça funciona como um especialista observando a mesma frase sob um ângulo diferente.</a:t>
            </a:r>
            <a:br>
              <a:rPr lang="pt-BR" dirty="0"/>
            </a:br>
            <a:r>
              <a:rPr lang="pt-BR" dirty="0"/>
              <a:t>Por exemplo:</a:t>
            </a:r>
          </a:p>
          <a:p>
            <a:r>
              <a:rPr lang="pt-BR" dirty="0"/>
              <a:t>uma cabeça pode focar em relações </a:t>
            </a:r>
            <a:r>
              <a:rPr lang="pt-BR" b="1" dirty="0"/>
              <a:t>de curto prazo</a:t>
            </a:r>
            <a:r>
              <a:rPr lang="pt-BR" dirty="0"/>
              <a:t>, como “o gato” → “dorme”;</a:t>
            </a:r>
          </a:p>
          <a:p>
            <a:r>
              <a:rPr lang="pt-BR" dirty="0"/>
              <a:t>outra pode buscar relações </a:t>
            </a:r>
            <a:r>
              <a:rPr lang="pt-BR" b="1" dirty="0"/>
              <a:t>de longo prazo</a:t>
            </a:r>
            <a:r>
              <a:rPr lang="pt-BR" dirty="0"/>
              <a:t>, como “ela” → “Maria”, mesmo que as palavras estejam distantes na frase.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37959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1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Freeform: Shape 13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2" name="Freeform: Shape 15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1FD9A5-1A97-10F9-ADA4-503C2060C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 fluxo de dados no Transformer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CEA2CC7-E948-967E-F51D-A085CACDAEBA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 b="0" i="0">
                <a:effectLst/>
              </a:rPr>
              <a:t>O Lado do Encoder (O Leitor)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 b="0" i="0">
                <a:effectLst/>
              </a:rPr>
              <a:t>A função do Encoder é ler a sequência de entrada e criar uma representação rica em contexto.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 b="1" i="0">
                <a:effectLst/>
              </a:rPr>
              <a:t>Entrada:</a:t>
            </a:r>
            <a:r>
              <a:rPr lang="en-US" sz="800" b="0" i="0">
                <a:effectLst/>
              </a:rPr>
              <a:t> A </a:t>
            </a:r>
            <a:r>
              <a:rPr lang="en-US" sz="800" b="0" i="1">
                <a:effectLst/>
              </a:rPr>
              <a:t>Input sequence</a:t>
            </a:r>
            <a:r>
              <a:rPr lang="en-US" sz="800" b="0" i="0">
                <a:effectLst/>
              </a:rPr>
              <a:t> é convertida em </a:t>
            </a:r>
            <a:r>
              <a:rPr lang="en-US" sz="800" b="1" i="0">
                <a:effectLst/>
              </a:rPr>
              <a:t>Embeddings</a:t>
            </a:r>
            <a:r>
              <a:rPr lang="en-US" sz="800" b="0" i="0">
                <a:effectLst/>
              </a:rPr>
              <a:t> e somada ao </a:t>
            </a:r>
            <a:r>
              <a:rPr lang="en-US" sz="800" b="1" i="0">
                <a:effectLst/>
              </a:rPr>
              <a:t>Positional Encoding</a:t>
            </a:r>
            <a:r>
              <a:rPr lang="en-US" sz="800" b="0" i="0">
                <a:effectLst/>
              </a:rPr>
              <a:t> para adicionar o contexto de ordem.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 b="1" i="0">
                <a:effectLst/>
              </a:rPr>
              <a:t>Atenção e Processamento:</a:t>
            </a:r>
            <a:r>
              <a:rPr lang="en-US" sz="800" b="0" i="0">
                <a:effectLst/>
              </a:rPr>
              <a:t> O resultado passa por um bloco que contém: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 b="0" i="0">
                <a:effectLst/>
              </a:rPr>
              <a:t>Uma camada de </a:t>
            </a:r>
            <a:r>
              <a:rPr lang="en-US" sz="800" b="1" i="0">
                <a:effectLst/>
              </a:rPr>
              <a:t>Multi-Head Attention</a:t>
            </a:r>
            <a:r>
              <a:rPr lang="en-US" sz="800" b="0" i="0">
                <a:effectLst/>
              </a:rPr>
              <a:t> para que os tokens troquem informações entre si.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 b="0" i="0">
                <a:effectLst/>
              </a:rPr>
              <a:t>Uma camada </a:t>
            </a:r>
            <a:r>
              <a:rPr lang="en-US" sz="800" b="1" i="0">
                <a:effectLst/>
              </a:rPr>
              <a:t>Add &amp; Norm</a:t>
            </a:r>
            <a:r>
              <a:rPr lang="en-US" sz="800" b="0" i="0">
                <a:effectLst/>
              </a:rPr>
              <a:t>. O “Add” é uma </a:t>
            </a:r>
            <a:r>
              <a:rPr lang="en-US" sz="800" b="1" i="0">
                <a:effectLst/>
              </a:rPr>
              <a:t>conexão residual</a:t>
            </a:r>
            <a:r>
              <a:rPr lang="en-US" sz="800" b="0" i="0">
                <a:effectLst/>
              </a:rPr>
              <a:t> (soma da entrada com a saída da atenção) que estabiliza o treinamento. O “Norm” é uma </a:t>
            </a:r>
            <a:r>
              <a:rPr lang="en-US" sz="800" b="1" i="0">
                <a:effectLst/>
              </a:rPr>
              <a:t>normalização de camada</a:t>
            </a:r>
            <a:r>
              <a:rPr lang="en-US" sz="800" b="0" i="0">
                <a:effectLst/>
              </a:rPr>
              <a:t> que mantém os valores em uma escala controlada.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 b="0" i="0">
                <a:effectLst/>
              </a:rPr>
              <a:t>Uma rede </a:t>
            </a:r>
            <a:r>
              <a:rPr lang="en-US" sz="800" b="1" i="0">
                <a:effectLst/>
              </a:rPr>
              <a:t>Feed-Forward (MLPs)</a:t>
            </a:r>
            <a:r>
              <a:rPr lang="en-US" sz="800" b="0" i="0">
                <a:effectLst/>
              </a:rPr>
              <a:t> para processamento adicional.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 b="0" i="0">
                <a:effectLst/>
              </a:rPr>
              <a:t>Outra camada </a:t>
            </a:r>
            <a:r>
              <a:rPr lang="en-US" sz="800" b="1" i="0">
                <a:effectLst/>
              </a:rPr>
              <a:t>Add &amp; Norm</a:t>
            </a:r>
            <a:r>
              <a:rPr lang="en-US" sz="800" b="0" i="0">
                <a:effectLst/>
              </a:rPr>
              <a:t> para finalizar o bloco.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 b="0" i="0">
                <a:effectLst/>
              </a:rPr>
              <a:t>Este bloco pode ser empilhado várias vezes. A saída final do Encoder é uma memória contextualizada de toda a entrada, que é enviada ao Decoder na forma dos vetores </a:t>
            </a:r>
            <a:r>
              <a:rPr lang="en-US" sz="800" b="1" i="0">
                <a:effectLst/>
              </a:rPr>
              <a:t>Key (K)</a:t>
            </a:r>
            <a:r>
              <a:rPr lang="en-US" sz="800" b="0" i="0">
                <a:effectLst/>
              </a:rPr>
              <a:t> e </a:t>
            </a:r>
            <a:r>
              <a:rPr lang="en-US" sz="800" b="1" i="0">
                <a:effectLst/>
              </a:rPr>
              <a:t>Value (V)</a:t>
            </a:r>
            <a:r>
              <a:rPr lang="en-US" sz="800" b="0" i="0">
                <a:effectLst/>
              </a:rPr>
              <a:t>.</a:t>
            </a:r>
          </a:p>
        </p:txBody>
      </p:sp>
      <p:pic>
        <p:nvPicPr>
          <p:cNvPr id="5" name="Espaço Reservado para Conteúdo 4" descr="Diagrama&#10;&#10;O conteúdo gerado por IA pode estar incorreto.">
            <a:extLst>
              <a:ext uri="{FF2B5EF4-FFF2-40B4-BE49-F238E27FC236}">
                <a16:creationId xmlns:a16="http://schemas.microsoft.com/office/drawing/2014/main" id="{55DBA6DF-085B-B49B-90D3-DC78A392F1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1184" y="1515172"/>
            <a:ext cx="6922008" cy="392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48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0FEBC6-305D-76E3-1767-FF5B56A6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 fluxo de dados no Transformer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A067E8C-D1B5-E21A-6494-ECA13BDD549B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0" i="0" dirty="0">
                <a:effectLst/>
              </a:rPr>
              <a:t>O Lado do Decoder (O </a:t>
            </a:r>
            <a:r>
              <a:rPr lang="en-US" sz="900" b="0" i="0">
                <a:effectLst/>
              </a:rPr>
              <a:t>Escritor</a:t>
            </a:r>
            <a:r>
              <a:rPr lang="en-US" sz="900" b="0" i="0" dirty="0">
                <a:effectLst/>
              </a:rPr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0" i="0" dirty="0">
                <a:effectLst/>
              </a:rPr>
              <a:t>A </a:t>
            </a:r>
            <a:r>
              <a:rPr lang="en-US" sz="900" b="0" i="0">
                <a:effectLst/>
              </a:rPr>
              <a:t>função</a:t>
            </a:r>
            <a:r>
              <a:rPr lang="en-US" sz="900" b="0" i="0" dirty="0">
                <a:effectLst/>
              </a:rPr>
              <a:t> do Decoder </a:t>
            </a:r>
            <a:r>
              <a:rPr lang="en-US" sz="900" b="0" i="0">
                <a:effectLst/>
              </a:rPr>
              <a:t>é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gerar</a:t>
            </a:r>
            <a:r>
              <a:rPr lang="en-US" sz="900" b="0" i="0" dirty="0">
                <a:effectLst/>
              </a:rPr>
              <a:t> a </a:t>
            </a:r>
            <a:r>
              <a:rPr lang="en-US" sz="900" b="0" i="0">
                <a:effectLst/>
              </a:rPr>
              <a:t>sequência</a:t>
            </a:r>
            <a:r>
              <a:rPr lang="en-US" sz="900" b="0" i="0" dirty="0">
                <a:effectLst/>
              </a:rPr>
              <a:t> de </a:t>
            </a:r>
            <a:r>
              <a:rPr lang="en-US" sz="900" b="0" i="0">
                <a:effectLst/>
              </a:rPr>
              <a:t>saída</a:t>
            </a:r>
            <a:r>
              <a:rPr lang="en-US" sz="900" b="0" i="0" dirty="0">
                <a:effectLst/>
              </a:rPr>
              <a:t>, um token </a:t>
            </a:r>
            <a:r>
              <a:rPr lang="en-US" sz="900" b="0" i="0">
                <a:effectLst/>
              </a:rPr>
              <a:t>por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vez</a:t>
            </a:r>
            <a:r>
              <a:rPr lang="en-US" sz="900" b="0" i="0" dirty="0">
                <a:effectLst/>
              </a:rPr>
              <a:t>, </a:t>
            </a:r>
            <a:r>
              <a:rPr lang="en-US" sz="900" b="0" i="0">
                <a:effectLst/>
              </a:rPr>
              <a:t>usando</a:t>
            </a:r>
            <a:r>
              <a:rPr lang="en-US" sz="900" b="0" i="0" dirty="0">
                <a:effectLst/>
              </a:rPr>
              <a:t> o </a:t>
            </a:r>
            <a:r>
              <a:rPr lang="en-US" sz="900" b="0" i="0">
                <a:effectLst/>
              </a:rPr>
              <a:t>contexto</a:t>
            </a:r>
            <a:r>
              <a:rPr lang="en-US" sz="900" b="0" i="0" dirty="0">
                <a:effectLst/>
              </a:rPr>
              <a:t> do Encoder.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1" i="0" dirty="0">
                <a:effectLst/>
              </a:rPr>
              <a:t>Entrada:</a:t>
            </a:r>
            <a:r>
              <a:rPr lang="en-US" sz="900" b="0" i="0" dirty="0">
                <a:effectLst/>
              </a:rPr>
              <a:t> O Decoder </a:t>
            </a:r>
            <a:r>
              <a:rPr lang="en-US" sz="900" b="0" i="0">
                <a:effectLst/>
              </a:rPr>
              <a:t>recebe</a:t>
            </a:r>
            <a:r>
              <a:rPr lang="en-US" sz="900" b="0" i="0" dirty="0">
                <a:effectLst/>
              </a:rPr>
              <a:t> a </a:t>
            </a:r>
            <a:r>
              <a:rPr lang="en-US" sz="900" b="0" i="1" dirty="0">
                <a:effectLst/>
              </a:rPr>
              <a:t>Target sequence</a:t>
            </a:r>
            <a:r>
              <a:rPr lang="en-US" sz="900" b="0" i="0" dirty="0">
                <a:effectLst/>
              </a:rPr>
              <a:t> (a </a:t>
            </a:r>
            <a:r>
              <a:rPr lang="en-US" sz="900" b="0" i="0">
                <a:effectLst/>
              </a:rPr>
              <a:t>saída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esperada</a:t>
            </a:r>
            <a:r>
              <a:rPr lang="en-US" sz="900" b="0" i="0" dirty="0">
                <a:effectLst/>
              </a:rPr>
              <a:t>), que </a:t>
            </a:r>
            <a:r>
              <a:rPr lang="en-US" sz="900" b="0" i="0">
                <a:effectLst/>
              </a:rPr>
              <a:t>também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passa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por</a:t>
            </a:r>
            <a:r>
              <a:rPr lang="en-US" sz="900" b="0" i="0" dirty="0">
                <a:effectLst/>
              </a:rPr>
              <a:t> </a:t>
            </a:r>
            <a:r>
              <a:rPr lang="en-US" sz="900" b="1" i="0" dirty="0">
                <a:effectLst/>
              </a:rPr>
              <a:t>Embeddings</a:t>
            </a:r>
            <a:r>
              <a:rPr lang="en-US" sz="900" b="0" i="0" dirty="0">
                <a:effectLst/>
              </a:rPr>
              <a:t> e </a:t>
            </a:r>
            <a:r>
              <a:rPr lang="en-US" sz="900" b="1" i="0" dirty="0">
                <a:effectLst/>
              </a:rPr>
              <a:t>Positional Encoding</a:t>
            </a:r>
            <a:r>
              <a:rPr lang="en-US" sz="900" b="0" i="0" dirty="0">
                <a:effectLst/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1" i="0">
                <a:effectLst/>
              </a:rPr>
              <a:t>Atenção</a:t>
            </a:r>
            <a:r>
              <a:rPr lang="en-US" sz="900" b="1" i="0" dirty="0">
                <a:effectLst/>
              </a:rPr>
              <a:t> </a:t>
            </a:r>
            <a:r>
              <a:rPr lang="en-US" sz="900" b="1" i="0">
                <a:effectLst/>
              </a:rPr>
              <a:t>Mascarada</a:t>
            </a:r>
            <a:r>
              <a:rPr lang="en-US" sz="900" b="1" i="0" dirty="0">
                <a:effectLst/>
              </a:rPr>
              <a:t>:</a:t>
            </a:r>
            <a:r>
              <a:rPr lang="en-US" sz="900" b="0" i="0" dirty="0">
                <a:effectLst/>
              </a:rPr>
              <a:t> A </a:t>
            </a:r>
            <a:r>
              <a:rPr lang="en-US" sz="900" b="0" i="0">
                <a:effectLst/>
              </a:rPr>
              <a:t>primeira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camada</a:t>
            </a:r>
            <a:r>
              <a:rPr lang="en-US" sz="900" b="0" i="0" dirty="0">
                <a:effectLst/>
              </a:rPr>
              <a:t> de </a:t>
            </a:r>
            <a:r>
              <a:rPr lang="en-US" sz="900" b="0" i="0">
                <a:effectLst/>
              </a:rPr>
              <a:t>atenção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é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uma</a:t>
            </a:r>
            <a:r>
              <a:rPr lang="en-US" sz="900" b="0" i="0" dirty="0">
                <a:effectLst/>
              </a:rPr>
              <a:t> </a:t>
            </a:r>
            <a:r>
              <a:rPr lang="en-US" sz="900" b="1" i="0" dirty="0">
                <a:effectLst/>
              </a:rPr>
              <a:t>Masked Multi-Head Attention</a:t>
            </a:r>
            <a:r>
              <a:rPr lang="en-US" sz="900" b="0" i="0" dirty="0">
                <a:effectLst/>
              </a:rPr>
              <a:t>. A “</a:t>
            </a:r>
            <a:r>
              <a:rPr lang="en-US" sz="900" b="0" i="0">
                <a:effectLst/>
              </a:rPr>
              <a:t>máscara</a:t>
            </a:r>
            <a:r>
              <a:rPr lang="en-US" sz="900" b="0" i="0" dirty="0">
                <a:effectLst/>
              </a:rPr>
              <a:t>” impede que o </a:t>
            </a:r>
            <a:r>
              <a:rPr lang="en-US" sz="900" b="0" i="0">
                <a:effectLst/>
              </a:rPr>
              <a:t>modelo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espie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os</a:t>
            </a:r>
            <a:r>
              <a:rPr lang="en-US" sz="900" b="0" i="0" dirty="0">
                <a:effectLst/>
              </a:rPr>
              <a:t> tokens </a:t>
            </a:r>
            <a:r>
              <a:rPr lang="en-US" sz="900" b="0" i="0">
                <a:effectLst/>
              </a:rPr>
              <a:t>futuros</a:t>
            </a:r>
            <a:r>
              <a:rPr lang="en-US" sz="900" b="0" i="0" dirty="0">
                <a:effectLst/>
              </a:rPr>
              <a:t> da </a:t>
            </a:r>
            <a:r>
              <a:rPr lang="en-US" sz="900" b="0" i="0">
                <a:effectLst/>
              </a:rPr>
              <a:t>sequência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ao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prever</a:t>
            </a:r>
            <a:r>
              <a:rPr lang="en-US" sz="900" b="0" i="0" dirty="0">
                <a:effectLst/>
              </a:rPr>
              <a:t> o token </a:t>
            </a:r>
            <a:r>
              <a:rPr lang="en-US" sz="900" b="0" i="0">
                <a:effectLst/>
              </a:rPr>
              <a:t>atual</a:t>
            </a:r>
            <a:r>
              <a:rPr lang="en-US" sz="900" b="0" i="0" dirty="0">
                <a:effectLst/>
              </a:rPr>
              <a:t>, </a:t>
            </a:r>
            <a:r>
              <a:rPr lang="en-US" sz="900" b="0" i="0">
                <a:effectLst/>
              </a:rPr>
              <a:t>garantindo</a:t>
            </a:r>
            <a:r>
              <a:rPr lang="en-US" sz="900" b="0" i="0" dirty="0">
                <a:effectLst/>
              </a:rPr>
              <a:t> que </a:t>
            </a:r>
            <a:r>
              <a:rPr lang="en-US" sz="900" b="0" i="0">
                <a:effectLst/>
              </a:rPr>
              <a:t>ele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não</a:t>
            </a:r>
            <a:r>
              <a:rPr lang="en-US" sz="900" b="0" i="0" dirty="0">
                <a:effectLst/>
              </a:rPr>
              <a:t> “</a:t>
            </a:r>
            <a:r>
              <a:rPr lang="en-US" sz="900" b="0" i="0">
                <a:effectLst/>
              </a:rPr>
              <a:t>trapaceie</a:t>
            </a:r>
            <a:r>
              <a:rPr lang="en-US" sz="900" b="0" i="0" dirty="0">
                <a:effectLst/>
              </a:rPr>
              <a:t>”.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1" i="0">
                <a:effectLst/>
              </a:rPr>
              <a:t>Atenção</a:t>
            </a:r>
            <a:r>
              <a:rPr lang="en-US" sz="900" b="1" i="0" dirty="0">
                <a:effectLst/>
              </a:rPr>
              <a:t> Encoder-Decoder:</a:t>
            </a:r>
            <a:r>
              <a:rPr lang="en-US" sz="900" b="0" i="0" dirty="0">
                <a:effectLst/>
              </a:rPr>
              <a:t> </a:t>
            </a:r>
            <a:r>
              <a:rPr lang="en-US" sz="900" b="0" i="0">
                <a:effectLst/>
              </a:rPr>
              <a:t>Após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uma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camada</a:t>
            </a:r>
            <a:r>
              <a:rPr lang="en-US" sz="900" b="0" i="0" dirty="0">
                <a:effectLst/>
              </a:rPr>
              <a:t> </a:t>
            </a:r>
            <a:r>
              <a:rPr lang="en-US" sz="900" b="1" i="0" dirty="0">
                <a:effectLst/>
              </a:rPr>
              <a:t>Add &amp; Norm</a:t>
            </a:r>
            <a:r>
              <a:rPr lang="en-US" sz="900" b="0" i="0" dirty="0">
                <a:effectLst/>
              </a:rPr>
              <a:t>, </a:t>
            </a:r>
            <a:r>
              <a:rPr lang="en-US" sz="900" b="0" i="0">
                <a:effectLst/>
              </a:rPr>
              <a:t>vem</a:t>
            </a:r>
            <a:r>
              <a:rPr lang="en-US" sz="900" b="0" i="0" dirty="0">
                <a:effectLst/>
              </a:rPr>
              <a:t> o </a:t>
            </a:r>
            <a:r>
              <a:rPr lang="en-US" sz="900" b="0" i="0">
                <a:effectLst/>
              </a:rPr>
              <a:t>passo</a:t>
            </a:r>
            <a:r>
              <a:rPr lang="en-US" sz="900" b="0" i="0" dirty="0">
                <a:effectLst/>
              </a:rPr>
              <a:t> crucial. Uma </a:t>
            </a:r>
            <a:r>
              <a:rPr lang="en-US" sz="900" b="0" i="0">
                <a:effectLst/>
              </a:rPr>
              <a:t>segunda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camada</a:t>
            </a:r>
            <a:r>
              <a:rPr lang="en-US" sz="900" b="0" i="0" dirty="0">
                <a:effectLst/>
              </a:rPr>
              <a:t> de </a:t>
            </a:r>
            <a:r>
              <a:rPr lang="en-US" sz="900" b="1" i="0" dirty="0">
                <a:effectLst/>
              </a:rPr>
              <a:t>Multi-Head Attention</a:t>
            </a:r>
            <a:r>
              <a:rPr lang="en-US" sz="900" b="0" i="0" dirty="0">
                <a:effectLst/>
              </a:rPr>
              <a:t> </a:t>
            </a:r>
            <a:r>
              <a:rPr lang="en-US" sz="900" b="0" i="0">
                <a:effectLst/>
              </a:rPr>
              <a:t>recebe</a:t>
            </a:r>
            <a:r>
              <a:rPr lang="en-US" sz="900" b="0" i="0" dirty="0">
                <a:effectLst/>
              </a:rPr>
              <a:t>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1" i="0" dirty="0">
                <a:effectLst/>
              </a:rPr>
              <a:t>Query (Q)</a:t>
            </a:r>
            <a:r>
              <a:rPr lang="en-US" sz="900" b="0" i="0" dirty="0">
                <a:effectLst/>
              </a:rPr>
              <a:t> do </a:t>
            </a:r>
            <a:r>
              <a:rPr lang="en-US" sz="900" b="0" i="0">
                <a:effectLst/>
              </a:rPr>
              <a:t>próprio</a:t>
            </a:r>
            <a:r>
              <a:rPr lang="en-US" sz="900" b="0" i="0" dirty="0">
                <a:effectLst/>
              </a:rPr>
              <a:t> Decoder.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1" i="0" dirty="0">
                <a:effectLst/>
              </a:rPr>
              <a:t>Key (K) e Value (V)</a:t>
            </a:r>
            <a:r>
              <a:rPr lang="en-US" sz="900" b="0" i="0" dirty="0">
                <a:effectLst/>
              </a:rPr>
              <a:t> da </a:t>
            </a:r>
            <a:r>
              <a:rPr lang="en-US" sz="900" b="0" i="0">
                <a:effectLst/>
              </a:rPr>
              <a:t>saída</a:t>
            </a:r>
            <a:r>
              <a:rPr lang="en-US" sz="900" b="0" i="0" dirty="0">
                <a:effectLst/>
              </a:rPr>
              <a:t> do </a:t>
            </a:r>
            <a:r>
              <a:rPr lang="en-US" sz="900" b="1" i="0" dirty="0">
                <a:effectLst/>
              </a:rPr>
              <a:t>Encoder</a:t>
            </a:r>
            <a:r>
              <a:rPr lang="en-US" sz="900" b="0" i="0" dirty="0">
                <a:effectLst/>
              </a:rPr>
              <a:t>. </a:t>
            </a:r>
            <a:r>
              <a:rPr lang="en-US" sz="900" b="0" i="0">
                <a:effectLst/>
              </a:rPr>
              <a:t>É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aqui</a:t>
            </a:r>
            <a:r>
              <a:rPr lang="en-US" sz="900" b="0" i="0" dirty="0">
                <a:effectLst/>
              </a:rPr>
              <a:t> que o Decoder consulta a </a:t>
            </a:r>
            <a:r>
              <a:rPr lang="en-US" sz="900" b="0" i="0">
                <a:effectLst/>
              </a:rPr>
              <a:t>memória</a:t>
            </a:r>
            <a:r>
              <a:rPr lang="en-US" sz="900" b="0" i="0" dirty="0">
                <a:effectLst/>
              </a:rPr>
              <a:t> da entrada para </a:t>
            </a:r>
            <a:r>
              <a:rPr lang="en-US" sz="900" b="0" i="0">
                <a:effectLst/>
              </a:rPr>
              <a:t>decidir</a:t>
            </a:r>
            <a:r>
              <a:rPr lang="en-US" sz="900" b="0" i="0" dirty="0">
                <a:effectLst/>
              </a:rPr>
              <a:t> qual token </a:t>
            </a:r>
            <a:r>
              <a:rPr lang="en-US" sz="900" b="0" i="0">
                <a:effectLst/>
              </a:rPr>
              <a:t>gerar</a:t>
            </a:r>
            <a:r>
              <a:rPr lang="en-US" sz="900" b="0" i="0" dirty="0">
                <a:effectLst/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1" i="0">
                <a:effectLst/>
              </a:rPr>
              <a:t>Processamento</a:t>
            </a:r>
            <a:r>
              <a:rPr lang="en-US" sz="900" b="1" i="0" dirty="0">
                <a:effectLst/>
              </a:rPr>
              <a:t> Final:</a:t>
            </a:r>
            <a:r>
              <a:rPr lang="en-US" sz="900" b="0" i="0" dirty="0">
                <a:effectLst/>
              </a:rPr>
              <a:t> O restante do </a:t>
            </a:r>
            <a:r>
              <a:rPr lang="en-US" sz="900" b="0" i="0">
                <a:effectLst/>
              </a:rPr>
              <a:t>bloco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é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igual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ao</a:t>
            </a:r>
            <a:r>
              <a:rPr lang="en-US" sz="900" b="0" i="0" dirty="0">
                <a:effectLst/>
              </a:rPr>
              <a:t> do Encoder: </a:t>
            </a:r>
            <a:r>
              <a:rPr lang="en-US" sz="900" b="0" i="0">
                <a:effectLst/>
              </a:rPr>
              <a:t>uma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camada</a:t>
            </a:r>
            <a:r>
              <a:rPr lang="en-US" sz="900" b="0" i="0" dirty="0">
                <a:effectLst/>
              </a:rPr>
              <a:t> </a:t>
            </a:r>
            <a:r>
              <a:rPr lang="en-US" sz="900" b="1" i="0" dirty="0">
                <a:effectLst/>
              </a:rPr>
              <a:t>Add &amp; Norm</a:t>
            </a:r>
            <a:r>
              <a:rPr lang="en-US" sz="900" b="0" i="0" dirty="0">
                <a:effectLst/>
              </a:rPr>
              <a:t>, </a:t>
            </a:r>
            <a:r>
              <a:rPr lang="en-US" sz="900" b="0" i="0">
                <a:effectLst/>
              </a:rPr>
              <a:t>uma</a:t>
            </a:r>
            <a:r>
              <a:rPr lang="en-US" sz="900" b="0" i="0" dirty="0">
                <a:effectLst/>
              </a:rPr>
              <a:t> rede </a:t>
            </a:r>
            <a:r>
              <a:rPr lang="en-US" sz="900" b="1" i="0" dirty="0">
                <a:effectLst/>
              </a:rPr>
              <a:t>Feed-Forward (MLPs)</a:t>
            </a:r>
            <a:r>
              <a:rPr lang="en-US" sz="900" b="0" i="0" dirty="0">
                <a:effectLst/>
              </a:rPr>
              <a:t> e </a:t>
            </a:r>
            <a:r>
              <a:rPr lang="en-US" sz="900" b="0" i="0">
                <a:effectLst/>
              </a:rPr>
              <a:t>uma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última</a:t>
            </a:r>
            <a:r>
              <a:rPr lang="en-US" sz="900" b="0" i="0" dirty="0">
                <a:effectLst/>
              </a:rPr>
              <a:t> </a:t>
            </a:r>
            <a:r>
              <a:rPr lang="en-US" sz="900" b="0" i="0">
                <a:effectLst/>
              </a:rPr>
              <a:t>camada</a:t>
            </a:r>
            <a:r>
              <a:rPr lang="en-US" sz="900" b="0" i="0" dirty="0">
                <a:effectLst/>
              </a:rPr>
              <a:t> </a:t>
            </a:r>
            <a:r>
              <a:rPr lang="en-US" sz="900" b="1" i="0" dirty="0">
                <a:effectLst/>
              </a:rPr>
              <a:t>Add &amp; Norm</a:t>
            </a:r>
            <a:r>
              <a:rPr lang="en-US" sz="900" b="0" i="0" dirty="0">
                <a:effectLst/>
              </a:rPr>
              <a:t>.</a:t>
            </a:r>
          </a:p>
        </p:txBody>
      </p:sp>
      <p:pic>
        <p:nvPicPr>
          <p:cNvPr id="5" name="Espaço Reservado para Conteúdo 4" descr="Diagrama&#10;&#10;O conteúdo gerado por IA pode estar incorreto.">
            <a:extLst>
              <a:ext uri="{FF2B5EF4-FFF2-40B4-BE49-F238E27FC236}">
                <a16:creationId xmlns:a16="http://schemas.microsoft.com/office/drawing/2014/main" id="{464555CB-FBB8-D9D7-5BD6-9A4A3899E8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1184" y="1515172"/>
            <a:ext cx="6922008" cy="392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0784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9E2441-7FFA-5E0E-D9C3-391DC650A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 </a:t>
            </a: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fluxo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dados no Transformer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BA04E01-15E0-AC2C-ADB0-A50BB41203BB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>
                <a:effectLst/>
              </a:rPr>
              <a:t>A Saída Final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>
                <a:effectLst/>
              </a:rPr>
              <a:t>Linear:</a:t>
            </a:r>
            <a:r>
              <a:rPr lang="en-US" sz="1700" b="0" i="0">
                <a:effectLst/>
              </a:rPr>
              <a:t> A saída do último bloco Decoder passa por uma camada </a:t>
            </a:r>
            <a:r>
              <a:rPr lang="en-US" sz="1700" b="1" i="0">
                <a:effectLst/>
              </a:rPr>
              <a:t>Linear</a:t>
            </a:r>
            <a:r>
              <a:rPr lang="en-US" sz="1700" b="0" i="0">
                <a:effectLst/>
              </a:rPr>
              <a:t>, que a transforma em um grande vetor de scores, um para cada palavra possível no vocabulário.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>
                <a:effectLst/>
              </a:rPr>
              <a:t>Softmax:</a:t>
            </a:r>
            <a:r>
              <a:rPr lang="en-US" sz="1700" b="0" i="0">
                <a:effectLst/>
              </a:rPr>
              <a:t> A função </a:t>
            </a:r>
            <a:r>
              <a:rPr lang="en-US" sz="1700" b="1" i="0">
                <a:effectLst/>
              </a:rPr>
              <a:t>Softmax</a:t>
            </a:r>
            <a:r>
              <a:rPr lang="en-US" sz="1700" b="0" i="0">
                <a:effectLst/>
              </a:rPr>
              <a:t> converte esses scores em probabilidades.</a:t>
            </a:r>
          </a:p>
        </p:txBody>
      </p:sp>
      <p:pic>
        <p:nvPicPr>
          <p:cNvPr id="5" name="Espaço Reservado para Conteúdo 4" descr="Diagrama&#10;&#10;O conteúdo gerado por IA pode estar incorreto.">
            <a:extLst>
              <a:ext uri="{FF2B5EF4-FFF2-40B4-BE49-F238E27FC236}">
                <a16:creationId xmlns:a16="http://schemas.microsoft.com/office/drawing/2014/main" id="{44CE83D5-9C94-F905-3463-F6557B5A6B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1184" y="1515172"/>
            <a:ext cx="6922008" cy="392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5442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BE4A90-671B-B084-7D7E-38883D498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418CB8-AA73-B8C7-A25A-AF18614A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7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Um </a:t>
            </a:r>
            <a:r>
              <a:rPr lang="en-US" sz="7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exemplo</a:t>
            </a:r>
            <a:r>
              <a:rPr lang="en-US" sz="7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simples…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E6ABF217-8367-25F4-15F1-3B6F7714060C}"/>
              </a:ext>
            </a:extLst>
          </p:cNvPr>
          <p:cNvSpPr txBox="1"/>
          <p:nvPr/>
        </p:nvSpPr>
        <p:spPr>
          <a:xfrm>
            <a:off x="6095999" y="713313"/>
            <a:ext cx="5257801" cy="5431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>
              <a:lnSpc>
                <a:spcPct val="90000"/>
              </a:lnSpc>
              <a:spcAft>
                <a:spcPts val="1800"/>
              </a:spcAft>
            </a:pPr>
            <a:endParaRPr lang="en-US" sz="2000" b="0" i="1">
              <a:effectLst/>
            </a:endParaRPr>
          </a:p>
        </p:txBody>
      </p:sp>
      <p:graphicFrame>
        <p:nvGraphicFramePr>
          <p:cNvPr id="15" name="CaixaDeTexto 4">
            <a:extLst>
              <a:ext uri="{FF2B5EF4-FFF2-40B4-BE49-F238E27FC236}">
                <a16:creationId xmlns:a16="http://schemas.microsoft.com/office/drawing/2014/main" id="{02318FD6-78A5-97BD-044E-75AD6C63F6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251803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6781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D60600-1334-8868-B6F5-43E9EBE49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Como o transformer entende...</a:t>
            </a:r>
          </a:p>
        </p:txBody>
      </p:sp>
      <p:pic>
        <p:nvPicPr>
          <p:cNvPr id="5" name="Espaço Reservado para Conteúdo 4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8655CAB0-21FE-FBD8-102C-764C77CBF4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164777"/>
            <a:ext cx="6780700" cy="452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5598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624084-17F2-7849-56E4-22FB92AF2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Entrada (Encoder)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65C57D-13DB-D3BF-C6FB-9A598B359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2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Função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2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entender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 </a:t>
            </a:r>
            <a:r>
              <a:rPr lang="en-US" sz="2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contexto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econômico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 </a:t>
            </a:r>
            <a:r>
              <a:rPr lang="en-US" sz="2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frase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07100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273F5A-A2C7-F387-EE59-226DC9440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Tradução dos blocos: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C062D0-809F-DE96-1E24-1A44D177E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b="1" dirty="0" err="1"/>
              <a:t>Embeddings</a:t>
            </a:r>
            <a:r>
              <a:rPr lang="pt-BR" b="1" dirty="0"/>
              <a:t> → Vetores de palavras</a:t>
            </a:r>
            <a:endParaRPr lang="pt-BR" dirty="0"/>
          </a:p>
          <a:p>
            <a:pPr lvl="1"/>
            <a:r>
              <a:rPr lang="pt-BR" dirty="0"/>
              <a:t>“Banco Central”, “juros”, “aumentou”… viram números</a:t>
            </a:r>
          </a:p>
          <a:p>
            <a:pPr lvl="1"/>
            <a:r>
              <a:rPr lang="pt-BR" dirty="0"/>
              <a:t>Não é texto, é geometria</a:t>
            </a:r>
          </a:p>
          <a:p>
            <a:r>
              <a:rPr lang="pt-BR" b="1" dirty="0" err="1"/>
              <a:t>Positional</a:t>
            </a:r>
            <a:r>
              <a:rPr lang="pt-BR" b="1" dirty="0"/>
              <a:t> </a:t>
            </a:r>
            <a:r>
              <a:rPr lang="pt-BR" b="1" dirty="0" err="1"/>
              <a:t>Encoding</a:t>
            </a:r>
            <a:r>
              <a:rPr lang="pt-BR" b="1" dirty="0"/>
              <a:t> → Codificação de posição</a:t>
            </a:r>
            <a:endParaRPr lang="pt-BR" dirty="0"/>
          </a:p>
          <a:p>
            <a:pPr lvl="1"/>
            <a:r>
              <a:rPr lang="pt-BR" dirty="0"/>
              <a:t>A ordem importa: “aumentou juros” ≠ “juros aumentaram o Banco Central” (caos macroeconômico)</a:t>
            </a:r>
          </a:p>
          <a:p>
            <a:r>
              <a:rPr lang="pt-BR" b="1" dirty="0" err="1"/>
              <a:t>Multi-head</a:t>
            </a:r>
            <a:r>
              <a:rPr lang="pt-BR" b="1" dirty="0"/>
              <a:t> </a:t>
            </a:r>
            <a:r>
              <a:rPr lang="pt-BR" b="1" dirty="0" err="1"/>
              <a:t>Attention</a:t>
            </a:r>
            <a:r>
              <a:rPr lang="pt-BR" b="1" dirty="0"/>
              <a:t> → Atenção </a:t>
            </a:r>
            <a:r>
              <a:rPr lang="pt-BR" b="1" dirty="0" err="1"/>
              <a:t>multi-cabeças</a:t>
            </a:r>
            <a:endParaRPr lang="pt-BR" dirty="0"/>
          </a:p>
          <a:p>
            <a:pPr lvl="1"/>
            <a:r>
              <a:rPr lang="pt-BR" dirty="0"/>
              <a:t>O modelo pergunta:</a:t>
            </a:r>
          </a:p>
          <a:p>
            <a:pPr lvl="1"/>
            <a:r>
              <a:rPr lang="pt-BR" dirty="0"/>
              <a:t>“o que importa mais aqui?”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</a:t>
            </a:r>
          </a:p>
          <a:p>
            <a:pPr lvl="2"/>
            <a:r>
              <a:rPr lang="pt-BR" dirty="0"/>
              <a:t>“Banco Central” ↔ “juros” → política monetária</a:t>
            </a:r>
          </a:p>
          <a:p>
            <a:pPr lvl="2"/>
            <a:r>
              <a:rPr lang="pt-BR" dirty="0"/>
              <a:t>“porque” → espera causalidade</a:t>
            </a:r>
          </a:p>
          <a:p>
            <a:r>
              <a:rPr lang="pt-BR" b="1" dirty="0" err="1"/>
              <a:t>Add</a:t>
            </a:r>
            <a:r>
              <a:rPr lang="pt-BR" b="1" dirty="0"/>
              <a:t> &amp; Norm → Soma + normalização</a:t>
            </a:r>
            <a:endParaRPr lang="pt-BR" dirty="0"/>
          </a:p>
          <a:p>
            <a:pPr lvl="1"/>
            <a:r>
              <a:rPr lang="pt-BR" dirty="0"/>
              <a:t>Estabiliza o aprendizado (tipo Copom tentando não perder o controle)</a:t>
            </a:r>
          </a:p>
          <a:p>
            <a:r>
              <a:rPr lang="pt-BR" b="1" dirty="0" err="1"/>
              <a:t>MLPs</a:t>
            </a:r>
            <a:r>
              <a:rPr lang="pt-BR" b="1" dirty="0"/>
              <a:t> → Redes densas</a:t>
            </a:r>
            <a:endParaRPr lang="pt-BR" dirty="0"/>
          </a:p>
          <a:p>
            <a:pPr lvl="1"/>
            <a:r>
              <a:rPr lang="pt-BR" dirty="0"/>
              <a:t>Refinam o entendimento:</a:t>
            </a:r>
            <a:br>
              <a:rPr lang="pt-BR" dirty="0"/>
            </a:br>
            <a:r>
              <a:rPr lang="pt-BR" dirty="0"/>
              <a:t>→ “isso aqui é sobre decisão de política monetária”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57550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B3862B-156B-127B-3960-7BF08CAF2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Saída do </a:t>
            </a:r>
            <a:r>
              <a:rPr lang="pt-BR" dirty="0" err="1"/>
              <a:t>Encoder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E34D36-9A2D-1D22-C0F6-9A1E4E1E9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Uma representação rica do contexto: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“Estamos falando de política monetária reagindo a alguma variável macro”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21893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3A315-1C65-F877-9B88-520331D9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1FC634-A61F-9833-8A9E-3EB392582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Decodificador (Decoder)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FF0576-26A3-43E6-E8D5-9422623B0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912" y="5645150"/>
            <a:ext cx="8258176" cy="631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Função: gerar a continuação da frase</a:t>
            </a:r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37025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2A245D-3A09-E0E0-0F14-3999CBD68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Tradução dos Blocos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CA2697-4B16-B179-54E1-6A532F3BB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pt-BR" b="1" dirty="0" err="1"/>
              <a:t>Decoder</a:t>
            </a:r>
            <a:r>
              <a:rPr lang="pt-BR" b="1" dirty="0"/>
              <a:t> passo a passo</a:t>
            </a:r>
          </a:p>
          <a:p>
            <a:r>
              <a:rPr lang="pt-BR" b="1" dirty="0" err="1"/>
              <a:t>Embeddings</a:t>
            </a:r>
            <a:r>
              <a:rPr lang="pt-BR" b="1" dirty="0"/>
              <a:t> (da saída parcial)</a:t>
            </a:r>
            <a:endParaRPr lang="pt-BR" dirty="0"/>
          </a:p>
          <a:p>
            <a:pPr lvl="1"/>
            <a:r>
              <a:rPr lang="pt-BR" dirty="0"/>
              <a:t>Começa com algo como:</a:t>
            </a:r>
          </a:p>
          <a:p>
            <a:pPr lvl="1"/>
            <a:r>
              <a:rPr lang="pt-BR" dirty="0"/>
              <a:t>“a inflação…”</a:t>
            </a:r>
          </a:p>
          <a:p>
            <a:r>
              <a:rPr lang="pt-BR" b="1" dirty="0" err="1"/>
              <a:t>Masked</a:t>
            </a:r>
            <a:r>
              <a:rPr lang="pt-BR" b="1" dirty="0"/>
              <a:t> </a:t>
            </a:r>
            <a:r>
              <a:rPr lang="pt-BR" b="1" dirty="0" err="1"/>
              <a:t>Multi-head</a:t>
            </a:r>
            <a:r>
              <a:rPr lang="pt-BR" b="1" dirty="0"/>
              <a:t> </a:t>
            </a:r>
            <a:r>
              <a:rPr lang="pt-BR" b="1" dirty="0" err="1"/>
              <a:t>Attention</a:t>
            </a:r>
            <a:r>
              <a:rPr lang="pt-BR" b="1" dirty="0"/>
              <a:t> → Atenção mascarada</a:t>
            </a:r>
            <a:endParaRPr lang="pt-BR" dirty="0"/>
          </a:p>
          <a:p>
            <a:pPr lvl="1"/>
            <a:r>
              <a:rPr lang="pt-BR" dirty="0"/>
              <a:t>Só olha para o passado (não pode prever o futuro olhando o gabarito)</a:t>
            </a:r>
          </a:p>
          <a:p>
            <a:pPr lvl="1"/>
            <a:r>
              <a:rPr lang="pt-BR" dirty="0"/>
              <a:t>Geração é sequencial:</a:t>
            </a:r>
          </a:p>
          <a:p>
            <a:pPr lvl="2"/>
            <a:r>
              <a:rPr lang="pt-BR" dirty="0"/>
              <a:t>“a” → “inflação” → “estava” → ...</a:t>
            </a:r>
          </a:p>
          <a:p>
            <a:r>
              <a:rPr lang="pt-BR" b="1" dirty="0" err="1"/>
              <a:t>Multi-head</a:t>
            </a:r>
            <a:r>
              <a:rPr lang="pt-BR" b="1" dirty="0"/>
              <a:t> </a:t>
            </a:r>
            <a:r>
              <a:rPr lang="pt-BR" b="1" dirty="0" err="1"/>
              <a:t>Attention</a:t>
            </a:r>
            <a:r>
              <a:rPr lang="pt-BR" b="1" dirty="0"/>
              <a:t> (com </a:t>
            </a:r>
            <a:r>
              <a:rPr lang="pt-BR" b="1" dirty="0" err="1"/>
              <a:t>encoder</a:t>
            </a:r>
            <a:r>
              <a:rPr lang="pt-BR" b="1" dirty="0"/>
              <a:t>)</a:t>
            </a:r>
            <a:endParaRPr lang="pt-BR" dirty="0"/>
          </a:p>
          <a:p>
            <a:pPr lvl="1"/>
            <a:r>
              <a:rPr lang="pt-BR" dirty="0"/>
              <a:t>Aqui acontece a mágica:</a:t>
            </a:r>
          </a:p>
          <a:p>
            <a:pPr lvl="2"/>
            <a:r>
              <a:rPr lang="pt-BR" dirty="0"/>
              <a:t>O </a:t>
            </a:r>
            <a:r>
              <a:rPr lang="pt-BR" dirty="0" err="1"/>
              <a:t>decoder</a:t>
            </a:r>
            <a:r>
              <a:rPr lang="pt-BR" dirty="0"/>
              <a:t> olha para o </a:t>
            </a:r>
            <a:r>
              <a:rPr lang="pt-BR" dirty="0" err="1"/>
              <a:t>encoder</a:t>
            </a:r>
            <a:r>
              <a:rPr lang="pt-BR" dirty="0"/>
              <a:t> e pergunta:</a:t>
            </a:r>
          </a:p>
          <a:p>
            <a:pPr lvl="2"/>
            <a:r>
              <a:rPr lang="pt-BR" dirty="0"/>
              <a:t>“qual contexto explica isso?”</a:t>
            </a:r>
          </a:p>
          <a:p>
            <a:pPr lvl="1"/>
            <a:r>
              <a:rPr lang="pt-BR" dirty="0"/>
              <a:t>Ele conecta:</a:t>
            </a:r>
          </a:p>
          <a:p>
            <a:pPr lvl="2"/>
            <a:r>
              <a:rPr lang="pt-BR" dirty="0"/>
              <a:t>“juros aumentaram” → normalmente responde a inflação</a:t>
            </a:r>
          </a:p>
          <a:p>
            <a:r>
              <a:rPr lang="pt-BR" b="1" dirty="0" err="1"/>
              <a:t>MLPs</a:t>
            </a:r>
            <a:r>
              <a:rPr lang="pt-BR" b="1" dirty="0"/>
              <a:t> → refinamento</a:t>
            </a:r>
            <a:endParaRPr lang="pt-BR" dirty="0"/>
          </a:p>
          <a:p>
            <a:pPr lvl="1"/>
            <a:r>
              <a:rPr lang="pt-BR" dirty="0"/>
              <a:t>Ajusta a escolha das palavras</a:t>
            </a:r>
          </a:p>
          <a:p>
            <a:r>
              <a:rPr lang="pt-BR" b="1" dirty="0"/>
              <a:t>Linear + </a:t>
            </a:r>
            <a:r>
              <a:rPr lang="pt-BR" b="1" dirty="0" err="1"/>
              <a:t>Softmax</a:t>
            </a:r>
            <a:endParaRPr lang="pt-BR" dirty="0"/>
          </a:p>
          <a:p>
            <a:pPr lvl="1"/>
            <a:r>
              <a:rPr lang="pt-BR" dirty="0"/>
              <a:t>Converte em probabilidades:</a:t>
            </a:r>
          </a:p>
          <a:p>
            <a:pPr lvl="2"/>
            <a:r>
              <a:rPr lang="pt-BR" dirty="0"/>
              <a:t>inflação: 80%</a:t>
            </a:r>
          </a:p>
          <a:p>
            <a:pPr lvl="2"/>
            <a:r>
              <a:rPr lang="pt-BR" dirty="0"/>
              <a:t>desemprego: 10%</a:t>
            </a:r>
          </a:p>
          <a:p>
            <a:pPr lvl="2"/>
            <a:r>
              <a:rPr lang="pt-BR" dirty="0"/>
              <a:t>câmbio: 10%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94766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B680EA-CE25-CFC3-838C-9D9311EE5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Saída final (Output)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EF8BA2-87C8-4F13-69F7-C50C21A83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 inflação estava acima da meta</a:t>
            </a:r>
          </a:p>
        </p:txBody>
      </p:sp>
    </p:spTree>
    <p:extLst>
      <p:ext uri="{BB962C8B-B14F-4D97-AF65-F5344CB8AC3E}">
        <p14:creationId xmlns:p14="http://schemas.microsoft.com/office/powerpoint/2010/main" val="16362928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456DBD1-1048-5A22-C973-3E5FA83F5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320BFB-99F5-0B03-0F81-241A0CE9E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165" y="1088571"/>
            <a:ext cx="7538405" cy="277439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/>
              <a:t>Vamos de novo?</a:t>
            </a:r>
          </a:p>
        </p:txBody>
      </p:sp>
    </p:spTree>
    <p:extLst>
      <p:ext uri="{BB962C8B-B14F-4D97-AF65-F5344CB8AC3E}">
        <p14:creationId xmlns:p14="http://schemas.microsoft.com/office/powerpoint/2010/main" val="19903753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E95009-9451-17D8-8279-20F0797F1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mundo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vira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pedaços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...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348FFF1-AAAE-CD0F-5C2E-AE60F45A89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7316" y="1509189"/>
            <a:ext cx="6780700" cy="381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891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CE13E1-6BA7-4AC0-4FBE-9376FCA66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A frase não entre inteira no modelo, ela vira </a:t>
            </a:r>
            <a:r>
              <a:rPr lang="pt-BR" i="1">
                <a:solidFill>
                  <a:srgbClr val="FFFFFF"/>
                </a:solidFill>
              </a:rPr>
              <a:t>tokens...</a:t>
            </a:r>
            <a:endParaRPr lang="pt-BR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123572-EB50-8227-BDBA-11DD14F87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pt-BR" dirty="0"/>
              <a:t>["O", "Banco", "Central", "aumentou", "a", "taxa", "de", "juros", "porque"]</a:t>
            </a:r>
          </a:p>
        </p:txBody>
      </p:sp>
    </p:spTree>
    <p:extLst>
      <p:ext uri="{BB962C8B-B14F-4D97-AF65-F5344CB8AC3E}">
        <p14:creationId xmlns:p14="http://schemas.microsoft.com/office/powerpoint/2010/main" val="11648295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1B36E-33B8-B9D6-C7ED-20284794B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Tokens viram vetores...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C7290B-3C33-1516-BD41-1ABF580C2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Cada token vira um vetor: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"juros" → [0.21, -0.88, 0.47, ...]</a:t>
            </a:r>
          </a:p>
        </p:txBody>
      </p:sp>
    </p:spTree>
    <p:extLst>
      <p:ext uri="{BB962C8B-B14F-4D97-AF65-F5344CB8AC3E}">
        <p14:creationId xmlns:p14="http://schemas.microsoft.com/office/powerpoint/2010/main" val="8701696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0602ED-401F-283B-65F5-7C078BD84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Palavras semelhantes ficam próximas...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05BDEB-F01D-AC6D-FB3A-B933FE127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“Juros” = “taxa”</a:t>
            </a:r>
          </a:p>
          <a:p>
            <a:r>
              <a:rPr lang="pt-BR" dirty="0"/>
              <a:t>“inflação” = “preços”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O modelo transforma linguagem em </a:t>
            </a:r>
            <a:r>
              <a:rPr lang="pt-BR" i="1" dirty="0"/>
              <a:t>geometria.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29239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C020A8-71DB-8435-1AC6-E80EBE589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Atenção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D988F3-2446-0E73-B1D0-ADC7E2B09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pt-BR" sz="2600"/>
              <a:t>Quando o modelo lê: </a:t>
            </a:r>
          </a:p>
          <a:p>
            <a:endParaRPr lang="pt-BR" sz="2600"/>
          </a:p>
          <a:p>
            <a:pPr marL="0" indent="0">
              <a:buNone/>
            </a:pPr>
            <a:r>
              <a:rPr lang="pt-BR" sz="2600"/>
              <a:t>“aumentou a taxa de juros porque...”</a:t>
            </a:r>
          </a:p>
          <a:p>
            <a:pPr marL="0" indent="0">
              <a:buNone/>
            </a:pPr>
            <a:endParaRPr lang="pt-BR" sz="2600"/>
          </a:p>
          <a:p>
            <a:pPr marL="0" indent="0">
              <a:buNone/>
            </a:pPr>
            <a:r>
              <a:rPr lang="pt-BR" sz="2600"/>
              <a:t>Ele pergunta:</a:t>
            </a:r>
          </a:p>
          <a:p>
            <a:pPr marL="0" indent="0">
              <a:buNone/>
            </a:pPr>
            <a:endParaRPr lang="pt-BR" sz="2600"/>
          </a:p>
          <a:p>
            <a:pPr marL="0" indent="0">
              <a:buNone/>
            </a:pPr>
            <a:r>
              <a:rPr lang="pt-BR" sz="2600"/>
              <a:t>“Para prever o próximo token, em que eu devo prestar atenção?”</a:t>
            </a:r>
          </a:p>
        </p:txBody>
      </p:sp>
    </p:spTree>
    <p:extLst>
      <p:ext uri="{BB962C8B-B14F-4D97-AF65-F5344CB8AC3E}">
        <p14:creationId xmlns:p14="http://schemas.microsoft.com/office/powerpoint/2010/main" val="8135424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628AA1-7A81-86AF-533F-0FF8AA151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O “porque” olha para: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1E7711-BD91-7C13-98C9-8D3D44EF8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pt-BR" dirty="0"/>
              <a:t>“Aumentou”</a:t>
            </a:r>
          </a:p>
          <a:p>
            <a:r>
              <a:rPr lang="pt-BR" dirty="0"/>
              <a:t>“Juros”</a:t>
            </a:r>
          </a:p>
          <a:p>
            <a:r>
              <a:rPr lang="pt-BR" dirty="0"/>
              <a:t>Ignora “O”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Isso gera </a:t>
            </a:r>
            <a:r>
              <a:rPr lang="pt-BR" i="1" dirty="0"/>
              <a:t>pesos de atenção.</a:t>
            </a:r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r>
              <a:rPr lang="pt-BR" i="1" dirty="0" err="1"/>
              <a:t>Atencão</a:t>
            </a:r>
            <a:r>
              <a:rPr lang="pt-BR" i="1" dirty="0"/>
              <a:t> = relevância contextual dinâmica.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45605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54560D-E4D4-B07C-1C17-05F546B60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Treinamento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8F0452-B1C2-3EB6-40D0-60126DDCE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pt-BR" sz="1500"/>
              <a:t>O modelo aprende assim:</a:t>
            </a:r>
          </a:p>
          <a:p>
            <a:endParaRPr lang="pt-BR" sz="1500"/>
          </a:p>
          <a:p>
            <a:pPr marL="0" indent="0">
              <a:buNone/>
            </a:pPr>
            <a:r>
              <a:rPr lang="pt-BR" sz="1500"/>
              <a:t>Entrada: “O Banco Central aumentou a taxa de juros porque”</a:t>
            </a:r>
          </a:p>
          <a:p>
            <a:pPr marL="0" indent="0">
              <a:buNone/>
            </a:pPr>
            <a:endParaRPr lang="pt-BR" sz="1500"/>
          </a:p>
          <a:p>
            <a:pPr marL="0" indent="0">
              <a:buNone/>
            </a:pPr>
            <a:r>
              <a:rPr lang="pt-BR" sz="1500"/>
              <a:t>Resposta esperada:</a:t>
            </a:r>
          </a:p>
          <a:p>
            <a:pPr marL="0" indent="0">
              <a:buNone/>
            </a:pPr>
            <a:endParaRPr lang="pt-BR" sz="1500"/>
          </a:p>
          <a:p>
            <a:pPr marL="0" indent="0">
              <a:buNone/>
            </a:pPr>
            <a:r>
              <a:rPr lang="pt-BR" sz="1500"/>
              <a:t>“...” =&gt; “a inflação”</a:t>
            </a:r>
          </a:p>
          <a:p>
            <a:pPr marL="0" indent="0">
              <a:buNone/>
            </a:pPr>
            <a:endParaRPr lang="pt-BR" sz="1500"/>
          </a:p>
          <a:p>
            <a:pPr marL="0" indent="0">
              <a:buNone/>
            </a:pPr>
            <a:r>
              <a:rPr lang="pt-BR" sz="1500"/>
              <a:t>Erro =&gt; ajusta pesos =&gt; repete bilhões de vezes.</a:t>
            </a:r>
          </a:p>
          <a:p>
            <a:pPr marL="0" indent="0">
              <a:buNone/>
            </a:pPr>
            <a:endParaRPr lang="pt-BR" sz="1500"/>
          </a:p>
          <a:p>
            <a:pPr marL="0" indent="0">
              <a:buNone/>
            </a:pPr>
            <a:r>
              <a:rPr lang="pt-BR" sz="1500"/>
              <a:t>Não tem consci</a:t>
            </a:r>
            <a:r>
              <a:rPr lang="pt-BR" sz="1500" i="1"/>
              <a:t>ência, tem otimização.</a:t>
            </a:r>
            <a:endParaRPr lang="pt-BR" sz="1500"/>
          </a:p>
        </p:txBody>
      </p:sp>
    </p:spTree>
    <p:extLst>
      <p:ext uri="{BB962C8B-B14F-4D97-AF65-F5344CB8AC3E}">
        <p14:creationId xmlns:p14="http://schemas.microsoft.com/office/powerpoint/2010/main" val="15179306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9B110D-3B6B-DF7F-E859-9EA708C90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RLHF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395B16-78B2-7B88-75B3-258E2F5D1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pt-BR" sz="1300"/>
              <a:t>Depois do treino bruto, entra o ajuste fino:</a:t>
            </a:r>
          </a:p>
          <a:p>
            <a:endParaRPr lang="pt-BR" sz="1300"/>
          </a:p>
          <a:p>
            <a:pPr marL="0" indent="0">
              <a:buNone/>
            </a:pPr>
            <a:r>
              <a:rPr lang="pt-BR" sz="1300"/>
              <a:t>Humanos avaliam respostas.</a:t>
            </a:r>
          </a:p>
          <a:p>
            <a:pPr marL="0" indent="0">
              <a:buNone/>
            </a:pPr>
            <a:endParaRPr lang="pt-BR" sz="1300"/>
          </a:p>
          <a:p>
            <a:pPr marL="0" indent="0">
              <a:buNone/>
            </a:pPr>
            <a:r>
              <a:rPr lang="pt-BR" sz="1300"/>
              <a:t>O modelo aprende o que é:</a:t>
            </a:r>
          </a:p>
          <a:p>
            <a:pPr marL="0" indent="0">
              <a:buNone/>
            </a:pPr>
            <a:endParaRPr lang="pt-BR" sz="1300"/>
          </a:p>
          <a:p>
            <a:pPr>
              <a:buFontTx/>
              <a:buChar char="-"/>
            </a:pPr>
            <a:r>
              <a:rPr lang="pt-BR" sz="1300"/>
              <a:t>Útil;</a:t>
            </a:r>
          </a:p>
          <a:p>
            <a:pPr>
              <a:buFontTx/>
              <a:buChar char="-"/>
            </a:pPr>
            <a:r>
              <a:rPr lang="pt-BR" sz="1300"/>
              <a:t>Seguro;</a:t>
            </a:r>
          </a:p>
          <a:p>
            <a:pPr>
              <a:buFontTx/>
              <a:buChar char="-"/>
            </a:pPr>
            <a:r>
              <a:rPr lang="pt-BR" sz="1300"/>
              <a:t>Claro.</a:t>
            </a:r>
          </a:p>
          <a:p>
            <a:pPr>
              <a:buFontTx/>
              <a:buChar char="-"/>
            </a:pPr>
            <a:endParaRPr lang="pt-BR" sz="1300"/>
          </a:p>
          <a:p>
            <a:pPr marL="0" indent="0">
              <a:buNone/>
            </a:pPr>
            <a:r>
              <a:rPr lang="pt-BR" sz="1300"/>
              <a:t>É o </a:t>
            </a:r>
            <a:r>
              <a:rPr lang="pt-BR" sz="1300" i="1" err="1"/>
              <a:t>Reinforcement</a:t>
            </a:r>
            <a:r>
              <a:rPr lang="pt-BR" sz="1300" i="1"/>
              <a:t> Learning </a:t>
            </a:r>
            <a:r>
              <a:rPr lang="pt-BR" sz="1300" i="1" err="1"/>
              <a:t>with</a:t>
            </a:r>
            <a:r>
              <a:rPr lang="pt-BR" sz="1300" i="1"/>
              <a:t> </a:t>
            </a:r>
            <a:r>
              <a:rPr lang="pt-BR" sz="1300" i="1" err="1"/>
              <a:t>Human</a:t>
            </a:r>
            <a:r>
              <a:rPr lang="pt-BR" sz="1300" i="1"/>
              <a:t> Feedback (RLHF).</a:t>
            </a:r>
          </a:p>
          <a:p>
            <a:pPr marL="0" indent="0">
              <a:buNone/>
            </a:pPr>
            <a:endParaRPr lang="pt-BR" sz="1300" i="1"/>
          </a:p>
          <a:p>
            <a:pPr marL="0" indent="0">
              <a:buNone/>
            </a:pPr>
            <a:r>
              <a:rPr lang="pt-BR" sz="1300" i="1"/>
              <a:t>É onde o modelo aprende a “parecer inteligente”.</a:t>
            </a:r>
            <a:endParaRPr lang="pt-BR" sz="1300"/>
          </a:p>
        </p:txBody>
      </p:sp>
    </p:spTree>
    <p:extLst>
      <p:ext uri="{BB962C8B-B14F-4D97-AF65-F5344CB8AC3E}">
        <p14:creationId xmlns:p14="http://schemas.microsoft.com/office/powerpoint/2010/main" val="40013446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41C3E5-6124-AD2F-CBD3-CDF0504C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Raciocínio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56D0DD-F744-58D7-C503-A17D380B7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300"/>
              <a:t>Quando ele responde:</a:t>
            </a:r>
          </a:p>
          <a:p>
            <a:pPr marL="0" indent="0">
              <a:buNone/>
            </a:pPr>
            <a:endParaRPr lang="pt-BR" sz="1300"/>
          </a:p>
          <a:p>
            <a:pPr marL="0" indent="0">
              <a:buNone/>
            </a:pPr>
            <a:r>
              <a:rPr lang="pt-BR" sz="1300"/>
              <a:t>“...porque a inflação estava acima da meta”.</a:t>
            </a:r>
          </a:p>
          <a:p>
            <a:pPr marL="0" indent="0">
              <a:buNone/>
            </a:pPr>
            <a:endParaRPr lang="pt-BR" sz="1300"/>
          </a:p>
          <a:p>
            <a:pPr marL="0" indent="0">
              <a:buNone/>
            </a:pPr>
            <a:r>
              <a:rPr lang="pt-BR" sz="1300"/>
              <a:t>Parece raciocínio.</a:t>
            </a:r>
          </a:p>
          <a:p>
            <a:pPr marL="0" indent="0">
              <a:buNone/>
            </a:pPr>
            <a:endParaRPr lang="pt-BR" sz="1300"/>
          </a:p>
          <a:p>
            <a:pPr marL="0" indent="0">
              <a:buNone/>
            </a:pPr>
            <a:r>
              <a:rPr lang="pt-BR" sz="1300"/>
              <a:t>Mas é:</a:t>
            </a:r>
          </a:p>
          <a:p>
            <a:pPr marL="0" indent="0">
              <a:buNone/>
            </a:pPr>
            <a:endParaRPr lang="pt-BR" sz="1300"/>
          </a:p>
          <a:p>
            <a:pPr>
              <a:buFontTx/>
              <a:buChar char="-"/>
            </a:pPr>
            <a:r>
              <a:rPr lang="pt-BR" sz="1300"/>
              <a:t>Padrões aprendidos;</a:t>
            </a:r>
          </a:p>
          <a:p>
            <a:pPr>
              <a:buFontTx/>
              <a:buChar char="-"/>
            </a:pPr>
            <a:r>
              <a:rPr lang="pt-BR" sz="1300"/>
              <a:t>Cadeias de probabilidade.</a:t>
            </a:r>
          </a:p>
          <a:p>
            <a:pPr>
              <a:buFontTx/>
              <a:buChar char="-"/>
            </a:pPr>
            <a:endParaRPr lang="pt-BR" sz="1300"/>
          </a:p>
          <a:p>
            <a:pPr marL="0" indent="0">
              <a:buNone/>
            </a:pPr>
            <a:r>
              <a:rPr lang="pt-BR" sz="1300"/>
              <a:t>O modelo não pensa. Ele simula pensamento.</a:t>
            </a:r>
          </a:p>
        </p:txBody>
      </p:sp>
    </p:spTree>
    <p:extLst>
      <p:ext uri="{BB962C8B-B14F-4D97-AF65-F5344CB8AC3E}">
        <p14:creationId xmlns:p14="http://schemas.microsoft.com/office/powerpoint/2010/main" val="32621585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200857-60AD-C0C1-2D94-E89C249F7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t-BR" sz="3400">
                <a:solidFill>
                  <a:srgbClr val="FFFFFF"/>
                </a:solidFill>
              </a:rPr>
              <a:t>Multimodalidade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1A6D40-2435-A356-6178-F8B3B02B3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pt-BR" dirty="0"/>
              <a:t>Agora o jogo sobe:</a:t>
            </a:r>
          </a:p>
          <a:p>
            <a:endParaRPr lang="pt-BR" dirty="0"/>
          </a:p>
          <a:p>
            <a:pPr>
              <a:buFontTx/>
              <a:buChar char="-"/>
            </a:pPr>
            <a:r>
              <a:rPr lang="pt-BR" dirty="0"/>
              <a:t>Texto =&gt; </a:t>
            </a:r>
            <a:r>
              <a:rPr lang="pt-BR" dirty="0" err="1"/>
              <a:t>embedding</a:t>
            </a:r>
            <a:endParaRPr lang="pt-BR" dirty="0"/>
          </a:p>
          <a:p>
            <a:pPr>
              <a:buFontTx/>
              <a:buChar char="-"/>
            </a:pPr>
            <a:r>
              <a:rPr lang="pt-BR" dirty="0"/>
              <a:t>Imagem =&gt; </a:t>
            </a:r>
            <a:r>
              <a:rPr lang="pt-BR" dirty="0" err="1"/>
              <a:t>embedding</a:t>
            </a:r>
            <a:endParaRPr lang="pt-BR" dirty="0"/>
          </a:p>
          <a:p>
            <a:pPr>
              <a:buFontTx/>
              <a:buChar char="-"/>
            </a:pPr>
            <a:r>
              <a:rPr lang="pt-BR" dirty="0"/>
              <a:t>Áudio =&gt; </a:t>
            </a:r>
            <a:r>
              <a:rPr lang="pt-BR" dirty="0" err="1"/>
              <a:t>embedding</a:t>
            </a:r>
            <a:endParaRPr lang="pt-BR" dirty="0"/>
          </a:p>
          <a:p>
            <a:pPr>
              <a:buFontTx/>
              <a:buChar char="-"/>
            </a:pPr>
            <a:endParaRPr lang="pt-BR" dirty="0"/>
          </a:p>
          <a:p>
            <a:pPr marL="0" indent="0">
              <a:buNone/>
            </a:pPr>
            <a:r>
              <a:rPr lang="pt-BR" dirty="0"/>
              <a:t>Tudo vai para o mesmo espaço vetorial.</a:t>
            </a:r>
          </a:p>
        </p:txBody>
      </p:sp>
    </p:spTree>
    <p:extLst>
      <p:ext uri="{BB962C8B-B14F-4D97-AF65-F5344CB8AC3E}">
        <p14:creationId xmlns:p14="http://schemas.microsoft.com/office/powerpoint/2010/main" val="7319889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C7F48F-ABCD-515D-EA5C-D2286E316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741C57-14A3-C1D0-CF45-24673CFDB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112" y="1320574"/>
            <a:ext cx="4174092" cy="4064628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Multimodalidade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921B15-E7C7-FD16-F112-99A141BB9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pt-BR"/>
              <a:t>O modelo consegue:</a:t>
            </a:r>
          </a:p>
          <a:p>
            <a:endParaRPr lang="pt-BR"/>
          </a:p>
          <a:p>
            <a:pPr>
              <a:buFontTx/>
              <a:buChar char="-"/>
            </a:pPr>
            <a:r>
              <a:rPr lang="pt-BR"/>
              <a:t>Descrever imagens;</a:t>
            </a:r>
          </a:p>
          <a:p>
            <a:pPr>
              <a:buFontTx/>
              <a:buChar char="-"/>
            </a:pPr>
            <a:r>
              <a:rPr lang="pt-BR"/>
              <a:t>Ler gráficos;</a:t>
            </a:r>
          </a:p>
          <a:p>
            <a:pPr>
              <a:buFontTx/>
              <a:buChar char="-"/>
            </a:pPr>
            <a:r>
              <a:rPr lang="pt-BR"/>
              <a:t>Gerar texto a partir de áudio.</a:t>
            </a:r>
          </a:p>
        </p:txBody>
      </p:sp>
    </p:spTree>
    <p:extLst>
      <p:ext uri="{BB962C8B-B14F-4D97-AF65-F5344CB8AC3E}">
        <p14:creationId xmlns:p14="http://schemas.microsoft.com/office/powerpoint/2010/main" val="36689592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EA3752E-3BA0-939B-6956-D8AD2A550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Contexto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EEE87B-56F9-E270-C1D7-2CBEC2282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pt-BR" sz="2000" dirty="0"/>
              <a:t>O modelo só enxerga o que está na janela.</a:t>
            </a:r>
          </a:p>
          <a:p>
            <a:endParaRPr lang="pt-BR" sz="2000" dirty="0"/>
          </a:p>
          <a:p>
            <a:pPr marL="0" indent="0">
              <a:buNone/>
            </a:pPr>
            <a:r>
              <a:rPr lang="pt-BR" sz="2000" dirty="0"/>
              <a:t>Exemplo: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[limite: 8k tokens]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Se passar disso, esquece.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Isso não é memória real. É só contexto temporário.</a:t>
            </a:r>
          </a:p>
        </p:txBody>
      </p:sp>
    </p:spTree>
    <p:extLst>
      <p:ext uri="{BB962C8B-B14F-4D97-AF65-F5344CB8AC3E}">
        <p14:creationId xmlns:p14="http://schemas.microsoft.com/office/powerpoint/2010/main" val="15405106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B2EC09-23DE-26C0-24A1-94C48F47D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Memória – como contornar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2FC577-E871-67EB-DB01-E5B825FA0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Estratégias usadas na prática:</a:t>
            </a:r>
          </a:p>
          <a:p>
            <a:pPr marL="0" indent="0">
              <a:buNone/>
            </a:pPr>
            <a:endParaRPr lang="pt-BR" dirty="0"/>
          </a:p>
          <a:p>
            <a:pPr>
              <a:buFontTx/>
              <a:buChar char="-"/>
            </a:pPr>
            <a:r>
              <a:rPr lang="pt-BR" dirty="0"/>
              <a:t>RAG (buscar documentos externos)</a:t>
            </a:r>
          </a:p>
          <a:p>
            <a:pPr>
              <a:buFontTx/>
              <a:buChar char="-"/>
            </a:pPr>
            <a:r>
              <a:rPr lang="pt-BR" dirty="0"/>
              <a:t>Resumos iterativos</a:t>
            </a:r>
          </a:p>
          <a:p>
            <a:pPr>
              <a:buFontTx/>
              <a:buChar char="-"/>
            </a:pPr>
            <a:endParaRPr lang="pt-BR" dirty="0"/>
          </a:p>
          <a:p>
            <a:pPr marL="0" indent="0">
              <a:buNone/>
            </a:pPr>
            <a:r>
              <a:rPr lang="pt-BR" dirty="0"/>
              <a:t>Você dá memória artificial ao modelo.</a:t>
            </a:r>
          </a:p>
        </p:txBody>
      </p:sp>
    </p:spTree>
    <p:extLst>
      <p:ext uri="{BB962C8B-B14F-4D97-AF65-F5344CB8AC3E}">
        <p14:creationId xmlns:p14="http://schemas.microsoft.com/office/powerpoint/2010/main" val="25317303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365F74-4A78-06E7-F15F-EFB5A418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Limitações de janela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914B0E-C95E-9319-F5B7-2C7F032F7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pt-BR" dirty="0"/>
              <a:t>Problemas reais:</a:t>
            </a:r>
          </a:p>
          <a:p>
            <a:endParaRPr lang="pt-BR" dirty="0"/>
          </a:p>
          <a:p>
            <a:pPr>
              <a:buFontTx/>
              <a:buChar char="-"/>
            </a:pPr>
            <a:r>
              <a:rPr lang="pt-BR" dirty="0"/>
              <a:t>Perde contexto antigo;</a:t>
            </a:r>
          </a:p>
          <a:p>
            <a:pPr>
              <a:buFontTx/>
              <a:buChar char="-"/>
            </a:pPr>
            <a:r>
              <a:rPr lang="pt-BR" dirty="0"/>
              <a:t>Esquece instruções;</a:t>
            </a:r>
          </a:p>
          <a:p>
            <a:pPr>
              <a:buFontTx/>
              <a:buChar char="-"/>
            </a:pPr>
            <a:r>
              <a:rPr lang="pt-BR" dirty="0"/>
              <a:t>Respostas inconsistentes.</a:t>
            </a:r>
          </a:p>
          <a:p>
            <a:pPr>
              <a:buFontTx/>
              <a:buChar char="-"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modelo é brilhante. Mas sofre de amnésia seletiva.</a:t>
            </a:r>
          </a:p>
        </p:txBody>
      </p:sp>
    </p:spTree>
    <p:extLst>
      <p:ext uri="{BB962C8B-B14F-4D97-AF65-F5344CB8AC3E}">
        <p14:creationId xmlns:p14="http://schemas.microsoft.com/office/powerpoint/2010/main" val="21155370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A02C84-C25C-EBB6-F675-34AABCD1F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Estratégias de contorno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104D74-96D4-F877-ECCA-190EEBCF1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pt-BR" dirty="0" err="1"/>
              <a:t>Chunking</a:t>
            </a:r>
            <a:r>
              <a:rPr lang="pt-BR" dirty="0"/>
              <a:t> (quebrar texto)</a:t>
            </a:r>
          </a:p>
          <a:p>
            <a:r>
              <a:rPr lang="pt-BR" dirty="0" err="1"/>
              <a:t>Embedding</a:t>
            </a:r>
            <a:r>
              <a:rPr lang="pt-BR" dirty="0"/>
              <a:t> + busca</a:t>
            </a:r>
          </a:p>
          <a:p>
            <a:r>
              <a:rPr lang="pt-BR" dirty="0"/>
              <a:t>Chain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thought</a:t>
            </a:r>
            <a:endParaRPr lang="pt-BR" dirty="0"/>
          </a:p>
          <a:p>
            <a:r>
              <a:rPr lang="pt-BR" dirty="0"/>
              <a:t>Agentes (loop de decisões)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Hype atual: agentes de IA</a:t>
            </a:r>
          </a:p>
        </p:txBody>
      </p:sp>
    </p:spTree>
    <p:extLst>
      <p:ext uri="{BB962C8B-B14F-4D97-AF65-F5344CB8AC3E}">
        <p14:creationId xmlns:p14="http://schemas.microsoft.com/office/powerpoint/2010/main" val="36009013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F19A7B-7C53-0E7D-7BED-AC7820461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Conclusão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3E4544-E64B-C66D-DC05-DF5DFE112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pt-BR" dirty="0"/>
              <a:t>Transformers não entendem o mundo. Eles entendem padrões. E, surpreendentemente, isso é suficiente para parecer inteligência.</a:t>
            </a:r>
          </a:p>
        </p:txBody>
      </p:sp>
    </p:spTree>
    <p:extLst>
      <p:ext uri="{BB962C8B-B14F-4D97-AF65-F5344CB8AC3E}">
        <p14:creationId xmlns:p14="http://schemas.microsoft.com/office/powerpoint/2010/main" val="35130898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1021</TotalTime>
  <Words>3006</Words>
  <Application>Microsoft Macintosh PowerPoint</Application>
  <PresentationFormat>Widescreen</PresentationFormat>
  <Paragraphs>303</Paragraphs>
  <Slides>52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52</vt:i4>
      </vt:variant>
    </vt:vector>
  </HeadingPairs>
  <TitlesOfParts>
    <vt:vector size="57" baseType="lpstr">
      <vt:lpstr>Aptos</vt:lpstr>
      <vt:lpstr>Aptos Display</vt:lpstr>
      <vt:lpstr>Arial</vt:lpstr>
      <vt:lpstr>Calibri</vt:lpstr>
      <vt:lpstr>Tema do Office</vt:lpstr>
      <vt:lpstr>A arquitetura Transformer </vt:lpstr>
      <vt:lpstr>Plano de Voo</vt:lpstr>
      <vt:lpstr>Ementa  Resumida  do Curso</vt:lpstr>
      <vt:lpstr>O que veremos hoje...</vt:lpstr>
      <vt:lpstr>O que é o Transformer?</vt:lpstr>
      <vt:lpstr>Encoder (Codificador)</vt:lpstr>
      <vt:lpstr>Decoder (Decodificador)</vt:lpstr>
      <vt:lpstr>Encoder-Decoder</vt:lpstr>
      <vt:lpstr>Entendendo a arquitetura...</vt:lpstr>
      <vt:lpstr>Entendendo a arquitetura...</vt:lpstr>
      <vt:lpstr>Entendendo a arquitetura...</vt:lpstr>
      <vt:lpstr>Entendendo a arquitetura...</vt:lpstr>
      <vt:lpstr>Entendendo a arquitetura em linhas gerais</vt:lpstr>
      <vt:lpstr>Tokenização e criação de embeddings</vt:lpstr>
      <vt:lpstr>Atenção e Feedforward</vt:lpstr>
      <vt:lpstr>LM Head </vt:lpstr>
      <vt:lpstr>O que cada bloco faz...</vt:lpstr>
      <vt:lpstr>1. Tokenização e Embedding</vt:lpstr>
      <vt:lpstr>2. Self-Attention</vt:lpstr>
      <vt:lpstr>O mecanismo de atenção</vt:lpstr>
      <vt:lpstr>O mecanismo de atenção</vt:lpstr>
      <vt:lpstr>3. Positional Encoding</vt:lpstr>
      <vt:lpstr>4. Feed-Forward Network</vt:lpstr>
      <vt:lpstr>5. Multi-Head Attention: múltiplas perspectivas, um mesmo contexto</vt:lpstr>
      <vt:lpstr>O fluxo de dados no Transformer</vt:lpstr>
      <vt:lpstr>O fluxo de dados no Transformer</vt:lpstr>
      <vt:lpstr>O fluxo de dados no Transformer</vt:lpstr>
      <vt:lpstr>Um exemplo simples…</vt:lpstr>
      <vt:lpstr>Como o transformer entende...</vt:lpstr>
      <vt:lpstr>Entrada (Encoder)</vt:lpstr>
      <vt:lpstr>Tradução dos blocos:</vt:lpstr>
      <vt:lpstr>Saída do Encoder</vt:lpstr>
      <vt:lpstr>Decodificador (Decoder)</vt:lpstr>
      <vt:lpstr>Tradução dos Blocos</vt:lpstr>
      <vt:lpstr>Saída final (Output)</vt:lpstr>
      <vt:lpstr>Vamos de novo?</vt:lpstr>
      <vt:lpstr>O mundo vira pedaços...</vt:lpstr>
      <vt:lpstr>A frase não entre inteira no modelo, ela vira tokens...</vt:lpstr>
      <vt:lpstr>Tokens viram vetores...</vt:lpstr>
      <vt:lpstr>Palavras semelhantes ficam próximas...</vt:lpstr>
      <vt:lpstr>Atenção</vt:lpstr>
      <vt:lpstr>O “porque” olha para:</vt:lpstr>
      <vt:lpstr>Treinamento</vt:lpstr>
      <vt:lpstr>RLHF</vt:lpstr>
      <vt:lpstr>Raciocínio</vt:lpstr>
      <vt:lpstr>Multimodalidade</vt:lpstr>
      <vt:lpstr>Multimodalidade</vt:lpstr>
      <vt:lpstr>Contexto</vt:lpstr>
      <vt:lpstr>Memória – como contornar</vt:lpstr>
      <vt:lpstr>Limitações de janela</vt:lpstr>
      <vt:lpstr>Estratégias de contorno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vitorwilher@analisemacro.com.br</dc:creator>
  <cp:lastModifiedBy>vitorwilher@analisemacro.com.br</cp:lastModifiedBy>
  <cp:revision>8</cp:revision>
  <dcterms:created xsi:type="dcterms:W3CDTF">2025-08-21T13:49:34Z</dcterms:created>
  <dcterms:modified xsi:type="dcterms:W3CDTF">2026-04-02T18:56:23Z</dcterms:modified>
</cp:coreProperties>
</file>